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64ec955314ea7" /><Relationship Type="http://schemas.openxmlformats.org/officeDocument/2006/relationships/extended-properties" Target="/docProps/app.xml" Id="R989cbde23af14f48" /><Relationship Type="http://schemas.openxmlformats.org/officeDocument/2006/relationships/officeDocument" Target="/ppt/presentation.xml" Id="R9d6dab40a85f45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a5694e96af4e7b"/>
  </p:sldMasterIdLst>
  <p:notesMasterIdLst>
    <p:notesMasterId xmlns:r="http://schemas.openxmlformats.org/officeDocument/2006/relationships" r:id="Ra5d586ab48024e2a"/>
  </p:notesMasterIdLst>
  <p:sldIdLst>
    <p:sldId xmlns:r="http://schemas.openxmlformats.org/officeDocument/2006/relationships" id="256" r:id="R43cf06561ae0498d"/>
    <p:sldId xmlns:r="http://schemas.openxmlformats.org/officeDocument/2006/relationships" id="257" r:id="R9206130aacd14c77"/>
    <p:sldId xmlns:r="http://schemas.openxmlformats.org/officeDocument/2006/relationships" id="258" r:id="Rf5d5c7124a554a22"/>
    <p:sldId xmlns:r="http://schemas.openxmlformats.org/officeDocument/2006/relationships" id="259" r:id="Rb3488c47b41c40e8"/>
    <p:sldId xmlns:r="http://schemas.openxmlformats.org/officeDocument/2006/relationships" id="260" r:id="R5d62c809396a4af3"/>
    <p:sldId xmlns:r="http://schemas.openxmlformats.org/officeDocument/2006/relationships" id="261" r:id="Rfecbcaa18b064bb5"/>
    <p:sldId xmlns:r="http://schemas.openxmlformats.org/officeDocument/2006/relationships" id="262" r:id="R074aa69d62cd46cb"/>
    <p:sldId xmlns:r="http://schemas.openxmlformats.org/officeDocument/2006/relationships" id="263" r:id="R749abcd457b84b90"/>
    <p:sldId xmlns:r="http://schemas.openxmlformats.org/officeDocument/2006/relationships" id="264" r:id="Rca0e4efdc1b14bee"/>
    <p:sldId xmlns:r="http://schemas.openxmlformats.org/officeDocument/2006/relationships" id="265" r:id="R2979b648e25342dc"/>
    <p:sldId xmlns:r="http://schemas.openxmlformats.org/officeDocument/2006/relationships" id="266" r:id="R94f88159f6d54241"/>
    <p:sldId xmlns:r="http://schemas.openxmlformats.org/officeDocument/2006/relationships" id="267" r:id="Re1912d19e5c844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5694e96af4e7b" /><Relationship Type="http://schemas.openxmlformats.org/officeDocument/2006/relationships/theme" Target="/ppt/theme/theme1.xml" Id="R10a49a73bbf54d75" /><Relationship Type="http://schemas.openxmlformats.org/officeDocument/2006/relationships/notesMaster" Target="/ppt/notesMasters/notesMaster1.xml" Id="Ra5d586ab48024e2a" /><Relationship Type="http://schemas.openxmlformats.org/officeDocument/2006/relationships/presProps" Target="/ppt/presProps.xml" Id="Rae9483d236614cf1" /><Relationship Type="http://schemas.openxmlformats.org/officeDocument/2006/relationships/viewProps" Target="/ppt/viewProps.xml" Id="R5dd4fda686d9422e" /><Relationship Type="http://schemas.openxmlformats.org/officeDocument/2006/relationships/tableStyles" Target="/ppt/tableStyles.xml" Id="R366afba530dc47fa" /><Relationship Type="http://schemas.openxmlformats.org/officeDocument/2006/relationships/slide" Target="/ppt/slides/slide1.xml" Id="R43cf06561ae0498d" /><Relationship Type="http://schemas.openxmlformats.org/officeDocument/2006/relationships/slide" Target="/ppt/slides/slide2.xml" Id="R9206130aacd14c77" /><Relationship Type="http://schemas.openxmlformats.org/officeDocument/2006/relationships/slide" Target="/ppt/slides/slide3.xml" Id="Rf5d5c7124a554a22" /><Relationship Type="http://schemas.openxmlformats.org/officeDocument/2006/relationships/slide" Target="/ppt/slides/slide4.xml" Id="Rb3488c47b41c40e8" /><Relationship Type="http://schemas.openxmlformats.org/officeDocument/2006/relationships/slide" Target="/ppt/slides/slide5.xml" Id="R5d62c809396a4af3" /><Relationship Type="http://schemas.openxmlformats.org/officeDocument/2006/relationships/slide" Target="/ppt/slides/slide6.xml" Id="Rfecbcaa18b064bb5" /><Relationship Type="http://schemas.openxmlformats.org/officeDocument/2006/relationships/slide" Target="/ppt/slides/slide7.xml" Id="R074aa69d62cd46cb" /><Relationship Type="http://schemas.openxmlformats.org/officeDocument/2006/relationships/slide" Target="/ppt/slides/slide8.xml" Id="R749abcd457b84b90" /><Relationship Type="http://schemas.openxmlformats.org/officeDocument/2006/relationships/slide" Target="/ppt/slides/slide9.xml" Id="Rca0e4efdc1b14bee" /><Relationship Type="http://schemas.openxmlformats.org/officeDocument/2006/relationships/slide" Target="/ppt/slides/slide10.xml" Id="R2979b648e25342dc" /><Relationship Type="http://schemas.openxmlformats.org/officeDocument/2006/relationships/slide" Target="/ppt/slides/slide11.xml" Id="R94f88159f6d54241" /><Relationship Type="http://schemas.openxmlformats.org/officeDocument/2006/relationships/slide" Target="/ppt/slides/slide12.xml" Id="Re1912d19e5c844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1abb7cac93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212f4af70485b" /><Relationship Type="http://schemas.openxmlformats.org/officeDocument/2006/relationships/notesMaster" Target="/ppt/notesMasters/notesMaster1.xml" Id="R60d765a4b93d45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2117a5be54c60" /><Relationship Type="http://schemas.openxmlformats.org/officeDocument/2006/relationships/notesMaster" Target="/ppt/notesMasters/notesMaster1.xml" Id="R3364d00e0b2c42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d2107b1de84fba" /><Relationship Type="http://schemas.openxmlformats.org/officeDocument/2006/relationships/notesMaster" Target="/ppt/notesMasters/notesMaster1.xml" Id="R9f34257740944a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d5aa45747a408b" /><Relationship Type="http://schemas.openxmlformats.org/officeDocument/2006/relationships/notesMaster" Target="/ppt/notesMasters/notesMaster1.xml" Id="R2a04a44c183944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1f1f9f5764b3d" /><Relationship Type="http://schemas.openxmlformats.org/officeDocument/2006/relationships/notesMaster" Target="/ppt/notesMasters/notesMaster1.xml" Id="R434c1820ea29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481eebf98940f5" /><Relationship Type="http://schemas.openxmlformats.org/officeDocument/2006/relationships/notesMaster" Target="/ppt/notesMasters/notesMaster1.xml" Id="Rbc45e76d80f6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3d6595ef8c48cc" /><Relationship Type="http://schemas.openxmlformats.org/officeDocument/2006/relationships/notesMaster" Target="/ppt/notesMasters/notesMaster1.xml" Id="R652778a1c613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c3f67e3f834c36" /><Relationship Type="http://schemas.openxmlformats.org/officeDocument/2006/relationships/notesMaster" Target="/ppt/notesMasters/notesMaster1.xml" Id="Ra036871e4aa844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4af47e52574a00" /><Relationship Type="http://schemas.openxmlformats.org/officeDocument/2006/relationships/notesMaster" Target="/ppt/notesMasters/notesMaster1.xml" Id="Re525b5db191943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540e8cba9c43d9" /><Relationship Type="http://schemas.openxmlformats.org/officeDocument/2006/relationships/notesMaster" Target="/ppt/notesMasters/notesMaster1.xml" Id="R413f18deb8744c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525862009a4c1a" /><Relationship Type="http://schemas.openxmlformats.org/officeDocument/2006/relationships/notesMaster" Target="/ppt/notesMasters/notesMaster1.xml" Id="R42d7891a346e40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32294e7f08457b" /><Relationship Type="http://schemas.openxmlformats.org/officeDocument/2006/relationships/notesMaster" Target="/ppt/notesMasters/notesMaster1.xml" Id="Re40f0a5b3cf34d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3c9012bbe42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cb871905244055" /><Relationship Type="http://schemas.openxmlformats.org/officeDocument/2006/relationships/slideLayout" Target="/ppt/slideLayouts/slideLayout2.xml" Id="Rf94d3660a71f40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4d3660a71f40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670ef742a4673" /><Relationship Type="http://schemas.openxmlformats.org/officeDocument/2006/relationships/image" Target="/ppt/media/image.png" Id="R282f22c7e82f441b" /><Relationship Type="http://schemas.openxmlformats.org/officeDocument/2006/relationships/image" Target="/ppt/media/image2.png" Id="R13470215a17a4e67" /><Relationship Type="http://schemas.openxmlformats.org/officeDocument/2006/relationships/notesSlide" Target="/ppt/notesSlides/notesSlide1.xml" Id="R33d3929d216a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d5a28d04ef4013" /><Relationship Type="http://schemas.openxmlformats.org/officeDocument/2006/relationships/notesSlide" Target="/ppt/notesSlides/notesSlide2.xml" Id="R37b2573dce0e43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d1fc42c054075" /><Relationship Type="http://schemas.openxmlformats.org/officeDocument/2006/relationships/notesSlide" Target="/ppt/notesSlides/notesSlide3.xml" Id="R495a3222b783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1bc7c2e9d4455" /><Relationship Type="http://schemas.openxmlformats.org/officeDocument/2006/relationships/notesSlide" Target="/ppt/notesSlides/notesSlide4.xml" Id="Rba5a0028e42f41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157375791b4de8" /><Relationship Type="http://schemas.openxmlformats.org/officeDocument/2006/relationships/notesSlide" Target="/ppt/notesSlides/notesSlide5.xml" Id="R2501e983e5e946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8a4d793c247f7" /><Relationship Type="http://schemas.openxmlformats.org/officeDocument/2006/relationships/notesSlide" Target="/ppt/notesSlides/notesSlide6.xml" Id="R60787f1307ee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ca6e96905e4424" /><Relationship Type="http://schemas.openxmlformats.org/officeDocument/2006/relationships/notesSlide" Target="/ppt/notesSlides/notesSlide7.xml" Id="R17220506a8c744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c2a11a13e42f0" /><Relationship Type="http://schemas.openxmlformats.org/officeDocument/2006/relationships/notesSlide" Target="/ppt/notesSlides/notesSlide8.xml" Id="Rd4a606dae8d74d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13a72fad2746af" /><Relationship Type="http://schemas.openxmlformats.org/officeDocument/2006/relationships/notesSlide" Target="/ppt/notesSlides/notesSlide9.xml" Id="Rab7971e9f35246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4a4f93e834b25" /><Relationship Type="http://schemas.openxmlformats.org/officeDocument/2006/relationships/notesSlide" Target="/ppt/notesSlides/notesSlide10.xml" Id="R343d2cb4156346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4ea27fe93f4cc8" /><Relationship Type="http://schemas.openxmlformats.org/officeDocument/2006/relationships/notesSlide" Target="/ppt/notesSlides/notesSlide11.xml" Id="R982358ad5dd245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37bd8d2f484e22" /><Relationship Type="http://schemas.openxmlformats.org/officeDocument/2006/relationships/notesSlide" Target="/ppt/notesSlides/notesSlide12.xml" Id="Rec430fa821bb48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127982-91F1-416D-9DEE-F8F407A9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1A1F7-2C7D-41DC-9972-A1FCD6E9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65365-2754-44F8-8235-C645EC9B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1657B-BA9A-4654-ACE6-61DA74C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9C9F8-6AE1-4C7A-9C89-9BBB4F7E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f22c7e82f441b"/>
          <a:stretch xmlns:a="http://schemas.openxmlformats.org/drawingml/2006/main"/>
        </p:blipFill>
        <p:spPr>
          <a:xfrm xmlns:a="http://schemas.openxmlformats.org/drawingml/2006/main">
            <a:off x="1200150" y="448962"/>
            <a:ext cx="4095750" cy="1369027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70215a17a4e67"/>
          <a:stretch xmlns:a="http://schemas.openxmlformats.org/drawingml/2006/main"/>
        </p:blipFill>
        <p:spPr>
          <a:xfrm xmlns:a="http://schemas.openxmlformats.org/drawingml/2006/main">
            <a:off x="7181850" y="567625"/>
            <a:ext cx="3048000" cy="46494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9248D-CCB5-41D2-AE9D-A757466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Trabajo Final Integrador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DA1D2-E909-426A-8723-0469EDC0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8934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Red Carpenter-Grossberg aplicada a la segmentación de clientes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187A0-660D-4095-B369-4F883C0A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Museo de Redes Neuronales | Implementación clásica didáctica en 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2E0FF-C852-49A2-A621-DB001A1F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8953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A5617-40CC-458E-804B-FD3176C6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71950"/>
            <a:ext cx="6743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Universidad Autónoma de Entre Ríos - Facultad de Ciencia y Tecnología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Concepción del Uruguay - Licenciatura en Sistemas Informáticos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Inteligencia Artificial - 4to año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00312-595D-498E-BA4B-7BAC22C4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Integrante: [Completar]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Docente: [Completar]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Fecha: Mayo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FC21A-91C7-4184-9A54-103FA9FB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443F3-2E55-4AC7-A994-D3812BE5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D67E7-892C-4F60-AE76-E26142AC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2339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055500-FD39-4C9A-A54D-5F47E4D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EE7C4-EFAB-4A1F-851B-0E27F429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637E9-F45A-42B8-B17D-37F2A911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5574B-8AB5-460D-A437-640240DD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E0935-B1C2-4BB9-843A-D1DB011A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532E7-0EC3-4E3F-BA3C-15703EC7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PROPÓSITO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D12A6-A362-479E-8291-7A0B062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El TFI exige teoría, implementación y evidencia de uso.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24B3D-2AD6-454D-8694-04D90419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red no se presenta solo como concepto: debe quedar explicada, programada, documentada y probada.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30C67-F817-42BB-BA77-3E1DA292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F8032-E2E9-45C2-887E-60007FC0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60017-04F7-4F4A-BEC3-17324B52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2623E-0762-4A5A-808E-67318EEA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2819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BF6C5-E23F-4232-8474-758C9271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DF908-4646-4533-A1F5-1F26EAD4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1. Presentación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2123A-FF74-437E-949C-35AFA056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25336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PPT con sonido sobre origen, justificación, características, aplicaciones, fortalezas, debilidades y diferencias con otras redes.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D356B-1EC7-4FB5-BF27-B9314E4C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2819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91188-1666-471F-B211-13BCEC8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C2CF0-9CA0-46C9-B462-EF151B9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193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2. Código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277C2-B257-41A3-96E6-60B1B50F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5336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CarGross.py con lectura CSV, manejo de errores, ayuda por consola, instalación simple y lógica Carpenter-Grossberg clásica.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0563E-5682-4B89-8BC9-E0293424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66900"/>
            <a:ext cx="2895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488E5-A8BD-4C94-8203-F9E56EF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6690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B0536-27A7-4C74-9A93-5861FC1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93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3. Documentación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DE35C-CB08-4D83-8915-1CC04EB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2609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de referencia con alcances, limitaciones, instalación, demo, FAQ y referencias obligatorias.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71347-E594-48C8-9C6D-9E1D3E1A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4324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E90C6-3042-4BA3-9000-C881CE6C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F3AADA-73F8-4AE3-93C6-B65B20A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148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4. Datasets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48D8A-5D79-465D-9727-CEAB917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4038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Dos conjuntos de datos con al menos 50 registros y 5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 este trabajo se usan perfiles de clientes para mostrar clustering incremental sin etiquetas.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6F90D-8D5C-4534-BDA9-1205F28B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4324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35C21-7982-4518-A69A-792460E8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8CBCF-3018-4710-A810-DE37165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5. Informe de corridas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64254-41B7-4059-95BA-C8E6EF3B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4038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reportan resultados para ambos datasets, cantidad de clusters, umbrales de binarización y lectura interpretativa de cada salida.</a:t>
            </a:r>
          </a:p>
        </p:txBody>
      </p:sp>
    </p:spTree>
    <p:extLst>
      <p:ext uri="{BB962C8B-B14F-4D97-AF65-F5344CB8AC3E}">
        <p14:creationId xmlns:p14="http://schemas.microsoft.com/office/powerpoint/2010/main" val="2016527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C0B1A-76A3-4645-88B5-AFAD2B61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32EB9-CEF3-4535-BAE4-DA23B23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0FE1F-CDCC-455B-B027-E7A94D65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76A02-E5BF-4E8A-A3E0-BF7A28C1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315B0-5052-4741-8315-8C01190B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C3DB1-AFEE-4717-842A-9F129D53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ORIGEN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51294-8DC3-4FCE-80A8-524182B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Carpenter-Grossberg nace en el marco de ART para aprender categorías de forma estable.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A4A23-B459-43BF-BDF8-09CB93B0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idea central es resolver cómo incorporar patrones nuevos sin destruir los ya aprendidos.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B61D4-75CE-41A0-AA09-9F87022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CD0D3-E235-4B7D-9982-5F798C6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B28F9-CB5F-4CD6-8948-765F6307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3D0AB-FA71-417C-8BA1-5F15364B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96D62-61EF-4439-AC20-828FC0E2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553EE-9061-4A35-AEEA-0AD48F4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621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Adaptive Resonance Theory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89A35-C919-4F24-B4A3-974F15D8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24100"/>
            <a:ext cx="2438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Familia de modelos propuesta para combinar plasticidad y estabilidad.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Plasticidad: aprender patrones nuevos.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Estabilidad: no olvidar lo ya aprendido.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A2731-87AD-428E-896B-69ECD8D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2819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1DC08-2467-4008-8957-5662493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FB6B7-EBF0-48DB-B65D-F7606349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Justificación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37223-F01D-4BAD-B8C1-E1189C60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533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problema de segmentación de clientes no siempre trae etiquetas previas ni número fijo de grupos.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 eso conviene una red no supervisada e incremental.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95B3C-5D2F-4F3D-AC53-754E3FE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29908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7882B-FA2C-45F8-A0F8-499DB09D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675A1-5BB8-4EE1-83A8-000C1356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Idea de fondo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4EE4F-684C-4AC8-B8DB-620E07BB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2705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Cada entrada se compara con prototipos almacenados.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 el parecido supera la vigilancia, el patrón se absorbe.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 no, nace un cluster nuevo.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2E361-0AEF-4FE4-B677-9B18F022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F"/>
          </a:solidFill>
          <a:ln xmlns:a="http://schemas.openxmlformats.org/drawingml/2006/main" w="9525">
            <a:solidFill>
              <a:srgbClr val="DFF5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DB2CB-674B-44CE-BCEE-72356C1B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No supervisada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2A133-9D11-4C61-BBD4-411857F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148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AF4F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E2063-E259-4917-86A7-13FC7EBB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20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Incremental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8C7DF-B952-4FE2-B9F3-DF82A2E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1485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FF3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C235E-4CD4-4D2A-866D-B30317FC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Basada en prototipos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2EF5AF-BE55-4EBE-9A25-3A9F04A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FCE7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83AE5-FF24-4CCB-9FA1-ED28BA35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Control por rho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6A4F2-D7A8-41CB-9783-479F36DD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3875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Claim clave: la red es didácticamente valiosa porque conecta teoría de aprendizaje no supervisado con una implementación defendible en Python.</a:t>
            </a:r>
          </a:p>
        </p:txBody>
      </p:sp>
    </p:spTree>
    <p:extLst>
      <p:ext uri="{BB962C8B-B14F-4D97-AF65-F5344CB8AC3E}">
        <p14:creationId xmlns:p14="http://schemas.microsoft.com/office/powerpoint/2010/main" val="13627940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4DEA7-12DC-423B-83BF-B5A486FB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29609-15F8-4682-89CA-E453DB7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71E00-0198-4ADA-BD76-B42700C4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B432E-2489-4B32-913E-1B9180AA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F8573-5E88-40E9-BC11-40A7CC39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BF87-011B-4A94-89FA-4AE0EB1D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ALGORITMO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2519F-66C3-41A6-9DB4-EAB819DA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red compara cada patrón, valida con rho y decide si adapta o abre un cluster nuevo.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4B175-C68A-4E41-B109-8089A2A4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versión clásica trabaja con vectores binarios y actualización por operación AND.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D2B59-705F-4952-81BD-4511E244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4211B-73EE-4509-A7E8-0D28B936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D3C2B-2B17-451F-AC85-0EF7BB8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13B45-FBBF-4259-833C-CF27551F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1619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66E08-3060-41A6-8C3D-6C5717EB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965D9-6925-47D4-A1D2-853BB05E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114E8-6205-4E32-AEA7-F12F847F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Inicio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FDBBE-2DF0-4167-9D31-2FDC90CB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1314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fijan pesos y se elige el valor de vigilancia rho.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7BC4D-4CF4-49E0-97DD-0457298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CEC9E-76DB-4BB5-8813-D66F30F0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619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3BB2E-E861-4935-BB03-519770F9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CB6C4-34BA-425D-8CF7-60AFDA09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B56FD-1B01-4E8B-8A5D-F884DBD0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759D2-0E36-49A9-8DCC-D34F681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28900"/>
            <a:ext cx="1314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presenta un patrón X y se calculan puntajes de coincidencia.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31ED7-AAC3-4B68-805B-734733E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C68F0-E311-4D6B-A8F2-8CD2770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38350"/>
            <a:ext cx="1619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94F07-B3DE-49F2-BFE6-4DA5FCA3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DEC62-C523-4DC3-AF7F-F6DB0C4D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079C7-B871-4AD1-B577-EBB95BCD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Matching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1BDAF-39E9-4577-8D98-1A5D6FF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8900"/>
            <a:ext cx="1314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elige el prototipo con mejor matching score.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4F922-F765-48B6-82EB-75176654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241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D5C06-0FC8-44F2-BB85-0CB726F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6192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E07955-0613-49C5-87C2-2469E243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75243B-5CC7-4AB9-A558-2F9A288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13AD9B-58EF-47E9-AC4A-FDBDB583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Vigilancia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A4C857-067D-4CD6-B0AF-3A49F6C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314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evalúa |T AND X| / |X| y se compara con rho.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152F4-D86E-47C1-A288-66F6ED2D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241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2FD4EE-5D2E-4100-B72F-765EEFD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952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D85719-3678-484B-A6FA-1370553E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A54D2E-A40A-47D7-A466-4BB0E9DD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2D7201-4832-429F-8E02-A039B06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D1CC63-7089-434A-8298-E9BE9DF4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28900"/>
            <a:ext cx="647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Acepta y adapta, o crea cluster nuevo.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4A6116-7FA4-4D3E-8CB1-EF48EC0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4248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21477F-765F-49E0-B428-980A4F2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14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 la vigilancia se cumple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38684A-143B-46A2-9060-5585E627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76800"/>
            <a:ext cx="3600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El cluster ganador absorbe el patrón y el prototipo se vuelve más específico.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Actualización clásica: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 nuevo = T anterior AND 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313650-906B-476C-8E0C-6E2130A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24350"/>
            <a:ext cx="4248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CB4F13-1407-46EA-B16C-E04E1C0C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Si la vigilancia falla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889E42-A97D-4206-AC26-2A6E8B1A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3657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El mejor prototipo se deshabilita temporalmente y la red prueba otro candidato.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Si ninguno supera rho, se genera una categoría nueva.</a:t>
            </a:r>
          </a:p>
        </p:txBody>
      </p:sp>
    </p:spTree>
    <p:extLst>
      <p:ext uri="{BB962C8B-B14F-4D97-AF65-F5344CB8AC3E}">
        <p14:creationId xmlns:p14="http://schemas.microsoft.com/office/powerpoint/2010/main" val="7520347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B29BB-F197-4FA9-89DA-5DC33FB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F08A8-E301-4710-AA2B-F98B82C3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BEE05-98B6-4F61-8547-083AA26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96BCB-A601-4447-B542-6EA7A6E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44D92-36DF-44F2-9F0C-7F164303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66F13-0D93-4F5C-977D-D547EA9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VIGILANCIA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BFF70-E8A5-4D29-A9B4-04F0EF7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El parámetro rho define cuánta similitud necesita una entrada para entrar en un cluster existente.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19AC3-7831-4313-9899-C553171E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 el control más importante del comportamiento global de la 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A7AF1-601D-42AB-9ADE-E21697B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691BD-B7E4-48A7-BECA-256685BC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9ED79-A771-4C53-9D29-03230316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37779-191A-4E2A-BCC8-9C2B15C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7E845-8CE3-4D14-B85F-89583A77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D54D7-1147-45A3-B23F-5C5F0D4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19D4C-5468-41FA-9956-7E2E2F7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56E5C-1842-4AFA-A1B8-F273F66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rho bajo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7C193-EB1C-40CD-AC42-E2123CCC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33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rho medio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1F469-5565-4E4A-B58A-803B8A5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rho alto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5A75FC-1E86-44BB-8FCF-0E5E22F0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2724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599F7-F648-41EF-A158-02BD8588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33018-47C7-4E48-BEE0-95A9721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146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 rho es bajo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0FD40-E5D9-4A58-8CDF-136E16D6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76600"/>
            <a:ext cx="24384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red acepta coincidencias más flojas.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Ventaja: menos clusters.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Riesgo: mezcla perfiles distintos que quizá convendría separar.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80F4B-AA60-4046-833C-3345E950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28194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F22BE-6632-4B0F-BA35-4A82367A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44FAF-10EF-48A3-B4EB-D866C5A3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 rho es intermedio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11805-61DD-4150-91EB-F6ACA723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5336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equilibran especificidad y generalización.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 este trabajo se usa rho = 0.80 porque permite explicar bien la aparición de subgrupos.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8A5E0-0860-49CA-A157-7F0C4017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29908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677DE-BC7A-459A-8026-A8D10508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5F8CA-8D58-4083-AD31-8B14932A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 rho es alto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5715C-90FC-4AB5-B9B3-EB45CFC3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2705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red exige mucha similitud.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Ventaja: clusters más precisos.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Riesgo: proliferación de categorías frente a variaciones pequeñas.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018496-7135-4848-AF94-44DDA48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48300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AF4F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48EF94-097A-496C-9370-C0602987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054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Valor usado en la demo: 0.80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A4A179-3C3F-4B08-B476-ED2ACD15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4830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FF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DE446-AAC6-4EDD-BBFE-AF32622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054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Explica por qué aparecen 9 clusters en Online Retail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73614B-4F57-497D-85F1-F10F47C7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483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FCE7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7B0B58-AA82-48D3-8372-24755E67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Claim: rho no es un detalle técnico, es una decisión conceptual del modelo</a:t>
            </a:r>
          </a:p>
        </p:txBody>
      </p:sp>
    </p:spTree>
    <p:extLst>
      <p:ext uri="{BB962C8B-B14F-4D97-AF65-F5344CB8AC3E}">
        <p14:creationId xmlns:p14="http://schemas.microsoft.com/office/powerpoint/2010/main" val="7728882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AC4F5-8405-49D4-BADD-29B09A09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C5C4B-ABBA-44C5-9D68-DF6592C4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D5C74-C7D2-45B6-8618-96EC53D9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D0E97-BD66-4767-B62E-1395483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62E9B-3843-4DAB-ABD4-2C2A6DB0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9416B-1525-448F-BD4C-3EB60250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APLICACIÓN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F52F4-4EA6-41CB-BDCE-6DE4BD13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 segmentación de clientes es un caso natural para una red que crea categorías sin etiquetas previas.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38967-11A6-489D-B97A-FB835E86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conocemos de antemano cuántos perfiles comerciales existen ni cómo se separan con exactitud.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66FDE-02F4-46CD-A640-298198BD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12646-4E45-46C0-B452-202501C1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EC699-1DF6-47D8-981A-73BC33E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206E3-E615-4D3A-8C34-9970BB3E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43100"/>
            <a:ext cx="4267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11F26-794A-4F55-933D-5046AF12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43100"/>
            <a:ext cx="571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CBB9E-1281-464A-9ADC-3C26FDF9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955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Dataset 1 | Online Retail procesado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AC28E-B690-4F3B-9A77-5B89C0CD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57450"/>
            <a:ext cx="39814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Cada fila final representa un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Variables usadas: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frecuencia_compra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monto_total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monto_promedio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cantidad_productos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dias_desde_ultima_compra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Aporta un caso transaccional más realista.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CBD46-FF46-42E5-B4DD-1576B8F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4267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6D6AB-2DC2-41AE-A0C2-673DF038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571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5F208-7B2D-4783-BDC9-AE195C0B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Dataset 2 | Customer Shopping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5E355-523D-4ADE-AAC1-050C2875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39814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Caso más directo de comportamiento de compra.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Variables usadas: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edad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monto_compra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uso_descuentos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frecuencia_compra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categoria_producto_codificada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Permite comparar un resultado con menos complejidad transaccional.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F8288-6531-44A4-B95C-78040108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197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F"/>
          </a:solidFill>
          <a:ln xmlns:a="http://schemas.openxmlformats.org/drawingml/2006/main" w="9525">
            <a:solidFill>
              <a:srgbClr val="DFF5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C0BC2-1DE3-4B43-B30D-C66FF516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768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No supervisado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C7345-808C-4B9C-A48B-470C5623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197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AF4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3DDFC-AE62-4EE0-AD26-9B729A61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768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Perfiles descubiertos por similitud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3CC59-1D4E-4CD5-B28F-3992DEB8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19700"/>
            <a:ext cx="186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FF3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C4CE5-82C5-4D8E-A3F3-746DBD36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768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Apto para CRM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45487-8678-4E93-8B34-E0564227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97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FCE7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C32B9-4E98-4860-8D10-57ABB3C1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768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Interpretación posterior del cluster</a:t>
            </a:r>
          </a:p>
        </p:txBody>
      </p:sp>
    </p:spTree>
    <p:extLst>
      <p:ext uri="{BB962C8B-B14F-4D97-AF65-F5344CB8AC3E}">
        <p14:creationId xmlns:p14="http://schemas.microsoft.com/office/powerpoint/2010/main" val="13806575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EA369-ABEC-4E21-890C-12A7A86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EE2D9-0F74-4620-BA9C-07A37E1B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EFB53-1349-4A79-A3C7-469872C1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56B09-3B7D-4054-B0C1-046C0007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C326A-4754-4374-AED0-1F605B50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0A553-4B6E-4767-82CF-68B49E07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A1D3A-B3B8-461D-B6C4-BB85F52B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CarGross.py vuelve reproducible la teoría con un flujo simple, claro y fácil de defender.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A92BD-9BF4-48C1-9D4D-3321CE8A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versión elegida prioriza claridad didáctica y uso con archivos CSV.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68BC3-9E19-42A7-9CFB-D2DB48E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E3ADA-FFCA-4C9F-A354-341BD8C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9C5EB-D218-4ABF-A2C7-A7F4FD9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9D279-F9B6-46AE-BD13-5D13C48D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203A9-EA50-41B6-BE1A-8679404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87750-93FF-499C-9CBB-6585D340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E8EB8-E757-411B-9A67-43DFD195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76B12-4723-47A8-8F18-3E4AC4D4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Valida archivo, encabezados y filas mínimas.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3E96C-6FF7-4CAA-8B2D-684229D2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DC27D-0F0B-4D6D-929B-77BB56C7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383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36374-929F-4716-8E91-E3AC0A39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08CC5-6B32-43EC-BB64-246DE4FF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C559D-E798-47BB-A1AF-1F23FC2F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A2F3D-B6E5-4888-A470-11868F78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Selecciona columnas numéricas o usa las indicadas.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41419-DA1B-4389-BBA9-F8765E94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479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2EBF8-B509-4739-98CC-41AC19CB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229F2-D2A3-4E66-8828-F2079F26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9B8EF-6F25-44FD-B39A-A852A37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6B856-FA02-468F-9C2A-4959BFCF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Binariza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9A11B-6497-4681-B784-596AEAD9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289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Calcula umbrales por mediana y convierte a 0/1.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F8500F-1007-45B4-BB17-F906214C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49804-3AD3-4B09-AC06-4A6192C5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283104-8646-4DEE-824E-057302E1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381BEF-E89E-479C-9AC3-406FD41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031C5C-904A-49DC-909E-BE0E6E9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Red CG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350026-9985-4878-B125-B41BF53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289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Aplica matching, vigilancia y adaptación AND.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137259-1AF0-42BE-AD0E-A7DD5AC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E045E3-F0F9-4A09-9B55-30F6DE26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133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980659-9D4E-4AB3-9A07-A47CF4F7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E9736B-D557-4410-A8F2-B130E010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D60143-02A4-482C-986E-43EDA990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4E30FD-93E0-42E5-B079-5B08A30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028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Escribe cluster, perfil estimado y resumen.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0A4644-572E-412E-B147-91024AE4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43243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4F6483-7008-4B19-BC4F-C5BB9CA1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CFA3C5-3D34-4E4A-999D-C2D997DD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100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Archivos generados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3F5C40-CF94-4FEC-8D3C-486B1F09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38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resultados_online_retail.csv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resultados_customer_behavior.csv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resumen_online_retail.txt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resumen_customer_behavior.txt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45045E-3956-4F1F-9C6C-B159BAE9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43243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400A4F-7CA0-446E-AF1F-7A127D2F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7D2642-CA9F-49D2-8B2A-0AEDA44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Decisiones didácticas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A12D59-ADCF-4B98-859A-1BFDF45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72000"/>
            <a:ext cx="4038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 Solo librerías estándar para la ejecución.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2. Tests automatizados del algoritmo.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3. Manejo de errores por consola.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4. Umbrales opcionales en CSV cuando se necesiten reglas explícitas.</a:t>
            </a:r>
          </a:p>
        </p:txBody>
      </p:sp>
    </p:spTree>
    <p:extLst>
      <p:ext uri="{BB962C8B-B14F-4D97-AF65-F5344CB8AC3E}">
        <p14:creationId xmlns:p14="http://schemas.microsoft.com/office/powerpoint/2010/main" val="5862798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9A52E-E6EF-4833-9CCE-E322904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24E4E-85E3-460C-9329-E9094553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276BB-151C-407D-983F-66D2DB5F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61D3C-855B-4446-8B66-7852A82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9E694-D6DE-485A-BE04-88375A49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10058-59DF-4596-A4FA-EB767740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RESULTADOS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0EC8A-18B2-4AEC-A797-378BA95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En Online Retail procesado, la red encontró 9 clusters con rho = 0.80.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EC6FF-F922-48FE-B2E3-FB2FB53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salida ilustra cómo la vigilancia alta separa subperfiles incluso dentro de una misma lógica comercial.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6D3EE-1375-4F38-93FD-5178DA6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3142A-0166-4028-A27C-4EDBDB1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5166A-7F86-45E2-A8D4-2099B30A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45FC2-8EFC-4268-9D1D-2ABD7DE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Distribución por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6DEC6-E4EE-4CC2-8A06-6346742D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4191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6E689-C886-4584-A1A3-7E0F4DC5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6FD97-BB01-4A82-A589-C57EEF8D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E3DAE-7BB2-4B21-A49E-909C3EFE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0075"/>
            <a:ext cx="4191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B0D36-B8D6-407D-BE7C-7360FE93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95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172DE-D930-459D-99F6-C246EFDA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E4202-291B-4F8F-A600-E982CAEB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006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C4E2D-C497-49C0-8D1F-074BBF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101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F6E9B-9BDE-49ED-8960-8D75166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967E0-E2AF-455A-8F94-8EFEB3B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71875"/>
            <a:ext cx="4191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0C9E8-602F-4389-BC56-7EAFC7C4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813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F9492-1AA2-49B8-BEC6-C6F6E89A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9BEC3-BB82-4191-A908-A0FA1C8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90800"/>
            <a:ext cx="419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0D5B5-235C-457B-BFC0-EA3C711A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4076F-663E-45F5-94EB-8FC6F78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0D01D-E520-4CDA-9BAD-261A2306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95825"/>
            <a:ext cx="419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8D56E-199E-4ACA-B7E5-9A185A26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053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355C8-75BB-4F6F-B34C-68D6F5D8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622B6E-3D9E-4F2B-AD65-FC32BE98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419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43C0B-B8CF-4829-A274-4FC11BCF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CB2C6C-1645-40C6-B51D-44F549F6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5A1803-B70F-4818-833A-E2B4BB2A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67200"/>
            <a:ext cx="419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F52A1-2F12-4F4B-8FC9-DFA7E81C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767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1A714-DCD1-4A13-BD36-23BD146C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54E748-68BA-4E0F-864B-186D609F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006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9525">
            <a:solidFill>
              <a:srgbClr val="1C6F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84998B-271B-4A6E-9B06-E3357D66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603767-81B3-43D5-8142-0DD7E042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292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24CF74-57AB-4C43-9333-714F5D65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79FD18-5D58-41A5-A4F7-A3F77F56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361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66ABA4-FF4E-49A9-BCCC-CEC028A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78E340-4185-4DCA-B250-FB78CEA7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Umbrales de binarización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9E38DD-BE9C-49F8-827D-BF8F220E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14600"/>
            <a:ext cx="3333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frecuencia_compra: 4.0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monto_total: 860.0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monto_promedio: 162.5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cantidad_productos: 28.5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dias_desde_ultima_compra: 29.0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AB8F8F-9197-4E06-A209-33D6A091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0000"/>
            <a:ext cx="3619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A612E0-D122-40A5-A255-664CD88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0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DBFFF2-9A8A-467A-ABEC-4EF21FC6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Lectura del resultado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15AE90-130F-4A58-90D7-910BD4BE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243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dataset mezcla clientes frecuentes, de alto valor, ocasionales y en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 rho = 0.80 el modelo no colapsa todo en pocos grupos: detecta matices útiles para la defensa del trabajo.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707463-F0F7-4901-B04A-D949722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FCE7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486AFC-9F8B-4300-AA76-FA14352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959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Claim: la vigilancia alta genera más especificidad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BD0825-2E7B-4F8F-9270-C21B992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388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AF4F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4F6F2C-E6A6-4D1D-9314-078D1EB4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95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Resultado real de la corrida: 60 clientes, 9 clusters</a:t>
            </a:r>
          </a:p>
        </p:txBody>
      </p:sp>
    </p:spTree>
    <p:extLst>
      <p:ext uri="{BB962C8B-B14F-4D97-AF65-F5344CB8AC3E}">
        <p14:creationId xmlns:p14="http://schemas.microsoft.com/office/powerpoint/2010/main" val="15096223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9394F-F178-49D4-B08F-7E7DED5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0C90C-0736-40C6-A1FC-565C9B1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4F501-C3DB-4C24-B11B-D4C09F20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C9975-68C9-45D6-B8FA-BA92236E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9FC5C-D35D-4857-81AB-18569400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8CA9B-DCF4-46C9-8925-4244B163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RESULTADOS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A8A57-A1F6-4EF0-99A1-CA0ADE7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En Customer Shopping Behavior, la red encontró 4 clusters con el mismo rho = 0.80.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42B0-E09E-4318-83D5-501B73E4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diferencia muestra que el número de clusters depende de los datos y la representación binaria, no de un valor fijo prefijado.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8311D-5A46-4229-AF5E-473E716C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ACA8A-9A1E-4584-847F-988B823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1622D-6517-4F40-9E02-6ECCA271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FBB5D-F1A0-45A6-A9F4-73570CB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Distribución por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8AC53-36FC-413D-B0E8-DE8BFA5C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14675"/>
            <a:ext cx="1019175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CF4E8-D323-4846-95B0-5FBC9436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24175"/>
            <a:ext cx="1019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C6AAD-A304-4227-B380-DBC3095F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72050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26DBF-EF58-4BD7-9342-A0624AE9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38525"/>
            <a:ext cx="10191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31EFD-C433-4566-A5D7-9B1BB5F4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48025"/>
            <a:ext cx="1019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35F0B-6FE1-494F-AE0C-86C03C76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72050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BF71F-9460-4F29-A112-39D6B71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71950"/>
            <a:ext cx="10191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A845E-E4EB-4D20-9F10-5E31353E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1019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2DDDF-5083-4BAC-919B-6D88EADB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72050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A004E-AE8F-4C73-B691-A3DABD76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90800"/>
            <a:ext cx="101917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99E8F-A2DE-4A89-90D8-C5BA1B44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00300"/>
            <a:ext cx="1019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546CC-73D0-4BD2-A18C-35EB340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72050"/>
            <a:ext cx="1133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4AC56-00EE-4FFA-B7FC-4FA7361C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047E2-86E2-4FBD-9003-E735D7D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38290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9C52D-2DFF-4240-978C-758BE6BF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EADB78-EE9C-4B79-92BC-3840A2E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526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Umbrales de binarización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AD566B-3F5B-4D76-BEAA-394B878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3543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edad: 35.0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monto_compra: 115.0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uso_descuentos: 0.0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frecuencia_compra: 5.0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categoria_producto_codificada: 3.0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C0702-2819-4AC3-BE49-A8AB3C26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382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2616AB-6D71-4605-B9BC-82DA6E26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A43A6-952F-4D6E-A5D3-ED46E4E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Interpretación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3569BB-CB2C-46CC-B4A7-31B4B9B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3543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segunda corrida produce menos clusters porque los patrones binarios resultantes son más compatibles entre sí.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Sirve para mostrar que la red se adapta al problema planteado.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218D7-E802-4454-AE22-73186F5A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FFF3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E5393-3C81-498E-887C-142A81CB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959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Mismo rho, salida distinta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74FF68-26DE-4599-B9FF-884F5BF1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38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EAF4F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043B81-58D3-4104-900D-50FB5FE4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95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La estructura del dataset importa tanto como el algoritmo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0F363D-FBB8-4C2A-8859-FCB288D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388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F"/>
          </a:solidFill>
          <a:ln xmlns:a="http://schemas.openxmlformats.org/drawingml/2006/main" w="9525">
            <a:solidFill>
              <a:srgbClr val="DFF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EDBA05-221D-49CE-A9EC-0BD9C5FF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9595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real de la corrida: 60 clientes, 4 clusters</a:t>
            </a:r>
          </a:p>
        </p:txBody>
      </p:sp>
    </p:spTree>
    <p:extLst>
      <p:ext uri="{BB962C8B-B14F-4D97-AF65-F5344CB8AC3E}">
        <p14:creationId xmlns:p14="http://schemas.microsoft.com/office/powerpoint/2010/main" val="8855945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70F1C-CBCD-474D-AA75-4880F2C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75079-D257-4E37-B236-DBF2695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4C495-69E7-4B17-BB3A-E29E3930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E20C8-3A41-4FF6-9970-51509424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F6790-73BC-46F0-8261-57006027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DA436-3DC2-4613-908B-7ABC8E35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COMPARACIÓN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42795-F37B-44C9-A051-54FABDDF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Carpenter-Grossberg no compite por ser la red más moderna: destaca por la claridad del mecanismo que implementa.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562C3-3880-4310-BDA2-140968AA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comparación ayuda a defender por qué fue elegida para este TFI.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83BEF-49A4-4B7D-8649-91EED19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DE52B-4567-42B1-B3B6-A83EAEFF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3AB13-F8B9-4ED4-9A14-CCADDC47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6FC76-3DC2-4A4A-AD29-CA12A6BD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4248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E9245-B3B6-42EB-AA15-655B98C5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48956-DF2E-437B-9927-08A9E942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57400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Perceptrón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A62DD-A71B-4A97-98CE-B33FBE99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3962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 supervisado y necesita salida esperada.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Carpenter-Grossberg no usa etiquetas: agrupa patrones por similitud y vigilancia.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C834A-2FC3-42F4-B690-3306252E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5000"/>
            <a:ext cx="4324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40FF9-DACC-4082-B55F-16F2AD7D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50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C3146-CFC8-42F8-BBBA-6DE5FCB0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Hopfield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FE4D0-8E12-4933-B9A9-41A6D332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4038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Funciona como memoria asociativa para recuperar patrones.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Carpenter-Grossberg se enfoca en formar categorías y prototipos incrementales.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8F006-1BB1-4683-8E9C-083736D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4248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7AF51-7DE7-4606-82A8-3D9F85B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08507-1A3C-4A55-A255-4039168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9550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Hamming 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C58FF-C71D-4132-9674-E0D60D96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3962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Selecciona el patrón más parecido entre ejemplares conocidos.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Carpenter-Grossberg agrega el test de vigilancia y la creación de categorías nuevas.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B2899-CC25-4012-BC42-6081F8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67150"/>
            <a:ext cx="43243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F8CFE-180B-4B7B-9418-402011B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6715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01C13-19F1-4E0A-8474-AD2909BE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195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9EBCD-AC0C-4BFD-B769-CDCF733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4038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Requiere definir K antes de entrenar.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Carpenter-Grossberg no fija el número de clusters de antemano: los deja crecer según los datos.</a:t>
            </a:r>
          </a:p>
        </p:txBody>
      </p:sp>
    </p:spTree>
    <p:extLst>
      <p:ext uri="{BB962C8B-B14F-4D97-AF65-F5344CB8AC3E}">
        <p14:creationId xmlns:p14="http://schemas.microsoft.com/office/powerpoint/2010/main" val="69749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11E09-E0AC-480F-84FF-560A7484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17DF2-0431-4A87-B14E-2C4D91A6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2B5B2-3047-4BC1-A870-710837D9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F9CBC-AC66-4AF7-9F33-49C23D42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7E2A5-505F-4EDE-A01E-AD10817F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2C440-D9F7-40E4-BF5B-211EBD6A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5AD19-8573-4847-9243-95EFBB19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Las fortalezas de la red aparecen con claridad, pero también quedan visibles sus límites prácticos.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F5F0E-D51A-4055-AAED-01ED9437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Ese balance es importante para que la defensa no suene idealizada.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11EE2-A685-463B-9477-62D073E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F98E5-ECD1-4C83-B9B5-62F1FF36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A2AEA-7A3C-492F-BDC2-06298EE3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02DC6-D383-474C-8416-3EDF28DC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4248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0110C-38F6-4A56-9225-4C11A956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65A5F-F42E-42FE-8FA1-239B9671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90750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Fortalezas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7981E-3229-4060-8EEA-AA8662FF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52700"/>
            <a:ext cx="39624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Aprendizaje no supervisado.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Creación dinámica de categorías.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exige conocer el número de clusters.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Procesamiento incremental patrón por patrón.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Buena relación entre teoría y explicación didáctica.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Aplicable a segmentación de clientes.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9D3DA-7D52-47E7-827B-9C93C3AF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43243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5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5C75A-9895-47BF-9D87-8E1B979B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571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9B889-D1B7-4343-9F10-7742FBFB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Debilidades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96387-C826-4BA9-8BDA-3FD0F84A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40386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Depende mucho del valor de rho.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orden de entrada afecta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versión clásica trabaja mejor con datos binarios.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Puede generar demasiados clusters con vigilancia 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Necesita preprocesamiento y buena interpretación posterior.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34411-3260-4327-B0E2-8422A040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Conclusión parcial: la red es más valiosa para enseñar y segmentar que para competir con enfoques modernos de clustering continuo.</a:t>
            </a:r>
          </a:p>
        </p:txBody>
      </p:sp>
    </p:spTree>
    <p:extLst>
      <p:ext uri="{BB962C8B-B14F-4D97-AF65-F5344CB8AC3E}">
        <p14:creationId xmlns:p14="http://schemas.microsoft.com/office/powerpoint/2010/main" val="10821089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1C1A4-AEE8-40D9-AEC2-1F000D1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74B29-731D-4949-A0E9-380B1C33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A071B-E600-4A0D-B81A-A615A4B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A3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6155A-5740-41FC-AD64-7C397237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-285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91308-6CED-4B39-84DD-5D99F3F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9F7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26473-6548-4820-AECD-B45241D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88C62-6119-4CDC-884C-505EE536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885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El trabajo demuestra que Carpenter-Grossberg permite descubrir perfiles de clientes sin etiquetas previas y con una implementación defendible.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C28F9-F6D4-4F4B-88D0-512270BB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1920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combinación de teoría, código, datasets y corridas reales convierte el TFI en una entrega coherente de punta a punta.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514F6-0D35-4FC7-B7EE-5A819BC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15100"/>
            <a:ext cx="9353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D375E-9B8D-4191-9A64-40AB4989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5722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| Inteligencia Artificial | UADER - IDTILAB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5D589-01D9-4C8B-B416-9632E3D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6F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C6F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7C3FA-0D5F-4C1B-B192-C711FC4D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40957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666A3-C76C-47AB-AF20-083DF892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38350"/>
            <a:ext cx="57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F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58E03-4549-4469-B3EB-22DDB83A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907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Idea fuerza para defender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F80FF-79A1-4FB7-B25C-96B0776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52700"/>
            <a:ext cx="3810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red no 'adivina' perfiles comerciales predefinidos.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Primero construye clusters por similitud y vigilancia.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Luego esos clusters se interpretan en lenguaje de negocio.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845EE-07C8-4321-8B11-E38895F9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38350"/>
            <a:ext cx="45148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D8591-D410-4BDA-8402-35AE8D0A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38350"/>
            <a:ext cx="57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94ACE-F9FB-4B22-853F-306731B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421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Referencias usadas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B3C5A-22C9-4AB9-9DDE-F4C34E1E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42291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Trabajo Final Integrador - Museo de Redes Neuronales.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Richard P. Lippmann, An Introduction to Computing with Neural Nets.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Lau.pp5.a.11.pdf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Lau.pp12.a.14.pdf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AC509-164F-4D96-A3F0-7D267BDB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9DC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6BFF3-DDE5-4C15-81DF-5F1E4CCB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76850"/>
            <a:ext cx="849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Cierre final: Carpenter-Grossberg fue una buena elección para este TFI porque hizo visible la lógica del aprendizaje no supervisado y permitió implementarla en Python con resultados concretos.</a:t>
            </a:r>
          </a:p>
        </p:txBody>
      </p:sp>
    </p:spTree>
    <p:extLst>
      <p:ext uri="{BB962C8B-B14F-4D97-AF65-F5344CB8AC3E}">
        <p14:creationId xmlns:p14="http://schemas.microsoft.com/office/powerpoint/2010/main" val="1771805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2026-05-16T22:32:09.3360000Z</dcterms:created>
  <dcterms:modified xsi:type="dcterms:W3CDTF">2026-05-16T22:32:09.3370000Z</dcterms:modified>
</coreProperties>
</file>