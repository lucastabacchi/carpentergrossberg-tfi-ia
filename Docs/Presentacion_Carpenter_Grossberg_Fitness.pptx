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8" r:id="rId3"/>
    <p:sldId id="259" r:id="rId4"/>
    <p:sldId id="257" r:id="rId5"/>
    <p:sldId id="270" r:id="rId6"/>
    <p:sldId id="268" r:id="rId7"/>
    <p:sldId id="262" r:id="rId8"/>
    <p:sldId id="264" r:id="rId9"/>
    <p:sldId id="263" r:id="rId10"/>
    <p:sldId id="271" r:id="rId11"/>
    <p:sldId id="272" r:id="rId12"/>
    <p:sldId id="273" r:id="rId13"/>
    <p:sldId id="274" r:id="rId14"/>
    <p:sldId id="275"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516"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4143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Presentamos nuestro trabajo final integrador sobre redes Carpenter Grossberg. Primero explicaremos la idea de aprendizaje adaptativo y después mostraremos cómo construimos y evaluamos una aplicación para agrupar perfiles fitness.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familia de redes ART fue desarrollada a partir de investigaciones de Gail Carpenter y Stephen Grossberg. Su problema central es combinar plasticidad, la capacidad de aprender, con estabilidad, la capacidad de conservar conocimiento. Fuzzy ART utiliza operaciones difusas para comparar patrones continuos. Nuestro proyecto no implementa todos los elementos de la versión canónica.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diferencia de K means, nuestra red no necesita fijar previamente la cantidad de grupos. Y a diferencia de un perceptrón multicapa utilizado para clasificación supervisada, no recibe etiquetas objetivo. La red procesa los perfiles secuencialmente y ajusta prototipos de categorías.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desafío fue agrupar usuarios sin indicar de antemano a qué grupo pertenecen. Usamos variables biométricas y de entrenamiento. La red aprende categorías a partir de la similitud de los registros, por eso hablamos de aprendizaje no supervisado.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entrenar verificamos cómo quedaron representadas las actividades Cardio, HIIT, Strength y Yoga. Tras aplicar el filtro etario, las diferencias entre mujeres y hombres fueron de uno a cinco registros por actividad. No manipulamos categorías para conseguir resultados deseados; el objetivo fue obtener conjuntos razonablemente comparables.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corridas muestran que al aumentar la vigilancia suele aumentar la homogeneidad por tipo de entrenamiento, pero también se generan más grupos pequeños. Es importante aclarar que nuestra coherencia es descriptiva: medimos cuántos usuarios comparten la actividad predominante de su cluster, no una exactitud de clasificación supervisada.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Mantuvimos alpha en cero coma cero cero uno y beta en uno. Probamos siete valores de vigilancia, desde cero coma sesenta hasta cero coma noventa, en los dos datasets definitivos. En total realizamos catorce corridas y registramos cantidad de clusters, coherencia descriptiva y fragmentación.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Presentamos nuestro trabajo final integrador sobre redes Carpenter Grossberg. Primero explicaremos la idea de aprendizaje adaptativo y después mostraremos cómo construimos y evaluamos una aplicación para agrupar perfiles fitness.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827965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microsoft.com/office/2007/relationships/hdphoto" Target="../media/hdphoto2.wdp"/><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7" Type="http://schemas.microsoft.com/office/2007/relationships/hdphoto" Target="../media/hdphoto2.wdp"/><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png"/><Relationship Id="rId5" Type="http://schemas.microsoft.com/office/2007/relationships/hdphoto" Target="../media/hdphoto1.wdp"/><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23C"/>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oundRect">
            <a:avLst/>
          </a:prstGeom>
          <a:solidFill>
            <a:srgbClr val="00A5A8"/>
          </a:solidFill>
          <a:ln w="3810">
            <a:solidFill>
              <a:srgbClr val="00A5A8"/>
            </a:solidFill>
            <a:prstDash val="solid"/>
          </a:ln>
        </p:spPr>
      </p:sp>
      <p:sp>
        <p:nvSpPr>
          <p:cNvPr id="3" name="Text 1"/>
          <p:cNvSpPr/>
          <p:nvPr/>
        </p:nvSpPr>
        <p:spPr>
          <a:xfrm>
            <a:off x="758952" y="992416"/>
            <a:ext cx="10058400" cy="502920"/>
          </a:xfrm>
          <a:prstGeom prst="rect">
            <a:avLst/>
          </a:prstGeom>
          <a:noFill/>
          <a:ln/>
        </p:spPr>
        <p:txBody>
          <a:bodyPr wrap="square" lIns="0" tIns="0" rIns="0" bIns="0" rtlCol="0" anchor="ctr">
            <a:normAutofit/>
          </a:bodyPr>
          <a:lstStyle/>
          <a:p>
            <a:pPr marL="0" indent="0">
              <a:buNone/>
            </a:pPr>
            <a:r>
              <a:rPr lang="en-US" sz="1800" b="1" kern="0" spc="300" dirty="0">
                <a:solidFill>
                  <a:srgbClr val="72D9DB"/>
                </a:solidFill>
                <a:latin typeface="Aptos" pitchFamily="34" charset="0"/>
                <a:ea typeface="Aptos" pitchFamily="34" charset="-122"/>
                <a:cs typeface="Aptos" pitchFamily="34" charset="-120"/>
              </a:rPr>
              <a:t>CARPENTER–GROSSBERG</a:t>
            </a:r>
            <a:endParaRPr lang="en-US" sz="1800" dirty="0"/>
          </a:p>
        </p:txBody>
      </p:sp>
      <p:sp>
        <p:nvSpPr>
          <p:cNvPr id="4" name="Text 2"/>
          <p:cNvSpPr/>
          <p:nvPr/>
        </p:nvSpPr>
        <p:spPr>
          <a:xfrm>
            <a:off x="777240" y="1607350"/>
            <a:ext cx="5735901" cy="1645920"/>
          </a:xfrm>
          <a:prstGeom prst="rect">
            <a:avLst/>
          </a:prstGeom>
          <a:noFill/>
          <a:ln/>
        </p:spPr>
        <p:txBody>
          <a:bodyPr wrap="square" lIns="0" tIns="0" rIns="0" bIns="0" rtlCol="0" anchor="ctr">
            <a:normAutofit/>
          </a:bodyPr>
          <a:lstStyle/>
          <a:p>
            <a:pPr marL="0" indent="0">
              <a:buNone/>
            </a:pPr>
            <a:r>
              <a:rPr lang="en-US" sz="4300" b="1" dirty="0">
                <a:solidFill>
                  <a:srgbClr val="FFFFFF"/>
                </a:solidFill>
                <a:latin typeface="Aptos" pitchFamily="34" charset="0"/>
                <a:ea typeface="Aptos" pitchFamily="34" charset="-122"/>
                <a:cs typeface="Aptos" pitchFamily="34" charset="-120"/>
              </a:rPr>
              <a:t>Una red que aprende</a:t>
            </a:r>
            <a:endParaRPr lang="en-US" sz="4300" dirty="0"/>
          </a:p>
          <a:p>
            <a:pPr marL="0" indent="0">
              <a:buNone/>
            </a:pPr>
            <a:r>
              <a:rPr lang="en-US" sz="4300" b="1" dirty="0">
                <a:solidFill>
                  <a:srgbClr val="FFFFFF"/>
                </a:solidFill>
                <a:latin typeface="Aptos" pitchFamily="34" charset="0"/>
                <a:ea typeface="Aptos" pitchFamily="34" charset="-122"/>
                <a:cs typeface="Aptos" pitchFamily="34" charset="-120"/>
              </a:rPr>
              <a:t>a formar perfiles</a:t>
            </a:r>
            <a:endParaRPr lang="en-US" sz="4300" dirty="0"/>
          </a:p>
        </p:txBody>
      </p:sp>
      <p:pic>
        <p:nvPicPr>
          <p:cNvPr id="8" name="Imagen 7"/>
          <p:cNvPicPr>
            <a:picLocks noChangeAspect="1"/>
          </p:cNvPicPr>
          <p:nvPr/>
        </p:nvPicPr>
        <p:blipFill rotWithShape="1">
          <a:blip r:embed="rId3"/>
          <a:srcRect t="571"/>
          <a:stretch/>
        </p:blipFill>
        <p:spPr>
          <a:xfrm>
            <a:off x="6531429" y="1"/>
            <a:ext cx="5660570" cy="6844936"/>
          </a:xfrm>
          <a:prstGeom prst="rect">
            <a:avLst/>
          </a:prstGeom>
        </p:spPr>
      </p:pic>
      <p:sp>
        <p:nvSpPr>
          <p:cNvPr id="5" name="Text 3"/>
          <p:cNvSpPr/>
          <p:nvPr/>
        </p:nvSpPr>
        <p:spPr>
          <a:xfrm>
            <a:off x="777240" y="3229757"/>
            <a:ext cx="5735901" cy="822960"/>
          </a:xfrm>
          <a:prstGeom prst="rect">
            <a:avLst/>
          </a:prstGeom>
          <a:noFill/>
          <a:ln/>
        </p:spPr>
        <p:txBody>
          <a:bodyPr wrap="square" lIns="0" tIns="0" rIns="0" bIns="0" rtlCol="0" anchor="ctr">
            <a:normAutofit/>
          </a:bodyPr>
          <a:lstStyle/>
          <a:p>
            <a:pPr marL="0" indent="0">
              <a:buNone/>
            </a:pPr>
            <a:r>
              <a:rPr lang="en-US" sz="2100" dirty="0">
                <a:solidFill>
                  <a:srgbClr val="D8E6F6"/>
                </a:solidFill>
                <a:latin typeface="Aptos" pitchFamily="34" charset="0"/>
                <a:ea typeface="Aptos" pitchFamily="34" charset="-122"/>
                <a:cs typeface="Aptos" pitchFamily="34" charset="-120"/>
              </a:rPr>
              <a:t>Aplicación experimental: </a:t>
            </a:r>
            <a:endParaRPr lang="en-US" sz="2100" dirty="0" smtClean="0">
              <a:solidFill>
                <a:srgbClr val="D8E6F6"/>
              </a:solidFill>
              <a:latin typeface="Aptos" pitchFamily="34" charset="0"/>
              <a:ea typeface="Aptos" pitchFamily="34" charset="-122"/>
              <a:cs typeface="Aptos" pitchFamily="34" charset="-120"/>
            </a:endParaRPr>
          </a:p>
          <a:p>
            <a:pPr marL="0" indent="0">
              <a:buNone/>
            </a:pPr>
            <a:r>
              <a:rPr lang="en-US" sz="2100" dirty="0" err="1" smtClean="0">
                <a:solidFill>
                  <a:srgbClr val="D8E6F6"/>
                </a:solidFill>
                <a:latin typeface="Aptos" pitchFamily="34" charset="0"/>
                <a:ea typeface="Aptos" pitchFamily="34" charset="-122"/>
                <a:cs typeface="Aptos" pitchFamily="34" charset="-120"/>
              </a:rPr>
              <a:t>Agrupamiento</a:t>
            </a:r>
            <a:r>
              <a:rPr lang="en-US" sz="2100" dirty="0" smtClean="0">
                <a:solidFill>
                  <a:srgbClr val="D8E6F6"/>
                </a:solidFill>
                <a:latin typeface="Aptos" pitchFamily="34" charset="0"/>
                <a:ea typeface="Aptos" pitchFamily="34" charset="-122"/>
                <a:cs typeface="Aptos" pitchFamily="34" charset="-120"/>
              </a:rPr>
              <a:t> </a:t>
            </a:r>
            <a:r>
              <a:rPr lang="en-US" sz="2100" dirty="0" err="1" smtClean="0">
                <a:solidFill>
                  <a:srgbClr val="D8E6F6"/>
                </a:solidFill>
                <a:latin typeface="Aptos" pitchFamily="34" charset="0"/>
                <a:ea typeface="Aptos" pitchFamily="34" charset="-122"/>
                <a:cs typeface="Aptos" pitchFamily="34" charset="-120"/>
              </a:rPr>
              <a:t>adaptativo</a:t>
            </a:r>
            <a:r>
              <a:rPr lang="en-US" sz="2100" dirty="0" smtClean="0">
                <a:solidFill>
                  <a:srgbClr val="D8E6F6"/>
                </a:solidFill>
                <a:latin typeface="Aptos" pitchFamily="34" charset="0"/>
                <a:ea typeface="Aptos" pitchFamily="34" charset="-122"/>
                <a:cs typeface="Aptos" pitchFamily="34" charset="-120"/>
              </a:rPr>
              <a:t> </a:t>
            </a:r>
            <a:r>
              <a:rPr lang="en-US" sz="2100" dirty="0">
                <a:solidFill>
                  <a:srgbClr val="D8E6F6"/>
                </a:solidFill>
                <a:latin typeface="Aptos" pitchFamily="34" charset="0"/>
                <a:ea typeface="Aptos" pitchFamily="34" charset="-122"/>
                <a:cs typeface="Aptos" pitchFamily="34" charset="-120"/>
              </a:rPr>
              <a:t>de hábitos fitness</a:t>
            </a:r>
            <a:endParaRPr lang="en-US" sz="2100" dirty="0"/>
          </a:p>
        </p:txBody>
      </p:sp>
      <p:sp>
        <p:nvSpPr>
          <p:cNvPr id="6" name="Text 4"/>
          <p:cNvSpPr/>
          <p:nvPr/>
        </p:nvSpPr>
        <p:spPr>
          <a:xfrm>
            <a:off x="543280" y="5463242"/>
            <a:ext cx="10058400" cy="967132"/>
          </a:xfrm>
          <a:prstGeom prst="rect">
            <a:avLst/>
          </a:prstGeom>
          <a:noFill/>
          <a:ln/>
        </p:spPr>
        <p:txBody>
          <a:bodyPr wrap="square" lIns="0" tIns="0" rIns="0" bIns="0" rtlCol="0" anchor="ctr">
            <a:normAutofit/>
          </a:bodyPr>
          <a:lstStyle/>
          <a:p>
            <a:pPr marL="0" indent="0">
              <a:buNone/>
            </a:pPr>
            <a:r>
              <a:rPr lang="en-US" sz="1300" dirty="0">
                <a:solidFill>
                  <a:srgbClr val="B3C9E0"/>
                </a:solidFill>
                <a:latin typeface="Aptos" pitchFamily="34" charset="0"/>
                <a:ea typeface="Aptos" pitchFamily="34" charset="-122"/>
                <a:cs typeface="Aptos" pitchFamily="34" charset="-120"/>
              </a:rPr>
              <a:t>UADER · Inteligencia Artificial · Trabajo Final Integrador · </a:t>
            </a:r>
            <a:r>
              <a:rPr lang="en-US" sz="1300" dirty="0" smtClean="0">
                <a:solidFill>
                  <a:srgbClr val="B3C9E0"/>
                </a:solidFill>
                <a:latin typeface="Aptos" pitchFamily="34" charset="0"/>
                <a:ea typeface="Aptos" pitchFamily="34" charset="-122"/>
                <a:cs typeface="Aptos" pitchFamily="34" charset="-120"/>
              </a:rPr>
              <a:t>2026</a:t>
            </a:r>
          </a:p>
          <a:p>
            <a:pPr marL="0" indent="0">
              <a:buNone/>
            </a:pPr>
            <a:r>
              <a:rPr lang="es-ES" sz="1300" dirty="0" err="1" smtClean="0">
                <a:solidFill>
                  <a:srgbClr val="B3C9E0"/>
                </a:solidFill>
                <a:latin typeface="Aptos" pitchFamily="34" charset="0"/>
                <a:ea typeface="Aptos" pitchFamily="34" charset="-122"/>
              </a:rPr>
              <a:t>Ezpeleta</a:t>
            </a:r>
            <a:r>
              <a:rPr lang="es-ES" sz="1300" dirty="0" smtClean="0">
                <a:solidFill>
                  <a:srgbClr val="B3C9E0"/>
                </a:solidFill>
                <a:latin typeface="Aptos" pitchFamily="34" charset="0"/>
                <a:ea typeface="Aptos" pitchFamily="34" charset="-122"/>
              </a:rPr>
              <a:t> Gisela – </a:t>
            </a:r>
            <a:r>
              <a:rPr lang="es-ES" sz="1300" dirty="0" err="1" smtClean="0">
                <a:solidFill>
                  <a:srgbClr val="B3C9E0"/>
                </a:solidFill>
                <a:latin typeface="Aptos" pitchFamily="34" charset="0"/>
                <a:ea typeface="Aptos" pitchFamily="34" charset="-122"/>
              </a:rPr>
              <a:t>Tabacchi</a:t>
            </a:r>
            <a:r>
              <a:rPr lang="es-ES" sz="1300" dirty="0" smtClean="0">
                <a:solidFill>
                  <a:srgbClr val="B3C9E0"/>
                </a:solidFill>
                <a:latin typeface="Aptos" pitchFamily="34" charset="0"/>
                <a:ea typeface="Aptos" pitchFamily="34" charset="-122"/>
              </a:rPr>
              <a:t> Lucas – Borda Alexander – Barreto </a:t>
            </a:r>
            <a:r>
              <a:rPr lang="es-ES" sz="1300" dirty="0" err="1" smtClean="0">
                <a:solidFill>
                  <a:srgbClr val="B3C9E0"/>
                </a:solidFill>
                <a:latin typeface="Aptos" pitchFamily="34" charset="0"/>
                <a:ea typeface="Aptos" pitchFamily="34" charset="-122"/>
              </a:rPr>
              <a:t>Nicolas</a:t>
            </a:r>
            <a:endParaRPr lang="en-US" sz="1300" dirty="0"/>
          </a:p>
        </p:txBody>
      </p:sp>
      <p:pic>
        <p:nvPicPr>
          <p:cNvPr id="1026" name="Picture 2" descr="idtilab"/>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20077" b="81853" l="3898" r="15367">
                        <a14:foregroundMark x1="9370" y1="35521" x2="8471" y2="60618"/>
                        <a14:foregroundMark x1="10870" y1="35521" x2="10570" y2="67568"/>
                        <a14:foregroundMark x1="8846" y1="31274" x2="6372" y2="57915"/>
                        <a14:foregroundMark x1="12744" y1="67181" x2="12144" y2="39768"/>
                        <a14:foregroundMark x1="12594" y1="39382" x2="6747" y2="35521"/>
                        <a14:foregroundMark x1="11619" y1="67181" x2="6372" y2="48263"/>
                        <a14:foregroundMark x1="8246" y1="70656" x2="11469" y2="32046"/>
                        <a14:foregroundMark x1="10345" y1="72201" x2="6072" y2="50193"/>
                        <a14:foregroundMark x1="7121" y1="70270" x2="8846" y2="22780"/>
                        <a14:foregroundMark x1="6222" y1="37452" x2="12894" y2="64479"/>
                      </a14:backgroundRemoval>
                    </a14:imgEffect>
                  </a14:imgLayer>
                </a14:imgProps>
              </a:ext>
              <a:ext uri="{28A0092B-C50C-407E-A947-70E740481C1C}">
                <a14:useLocalDpi xmlns:a14="http://schemas.microsoft.com/office/drawing/2010/main" val="0"/>
              </a:ext>
            </a:extLst>
          </a:blip>
          <a:srcRect l="2524" t="14635" r="83124" b="10570"/>
          <a:stretch>
            <a:fillRect/>
          </a:stretch>
        </p:blipFill>
        <p:spPr bwMode="auto">
          <a:xfrm>
            <a:off x="1095538" y="70183"/>
            <a:ext cx="866775" cy="876300"/>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images"/>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0" b="100000" l="0" r="32656">
                        <a14:foregroundMark x1="7317" y1="45122" x2="8401" y2="13008"/>
                        <a14:foregroundMark x1="18022" y1="42276" x2="25339" y2="10569"/>
                      </a14:backgroundRemoval>
                    </a14:imgEffect>
                  </a14:imgLayer>
                </a14:imgProps>
              </a:ext>
              <a:ext uri="{28A0092B-C50C-407E-A947-70E740481C1C}">
                <a14:useLocalDpi xmlns:a14="http://schemas.microsoft.com/office/drawing/2010/main" val="0"/>
              </a:ext>
            </a:extLst>
          </a:blip>
          <a:srcRect r="66528"/>
          <a:stretch/>
        </p:blipFill>
        <p:spPr bwMode="auto">
          <a:xfrm>
            <a:off x="447219" y="162258"/>
            <a:ext cx="696617" cy="6921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oundRect">
            <a:avLst/>
          </a:prstGeom>
          <a:solidFill>
            <a:srgbClr val="00A5A8"/>
          </a:solidFill>
          <a:ln w="3810">
            <a:solidFill>
              <a:srgbClr val="00A5A8"/>
            </a:solidFill>
            <a:prstDash val="solid"/>
          </a:ln>
        </p:spPr>
      </p:sp>
      <p:sp>
        <p:nvSpPr>
          <p:cNvPr id="3" name="Text 1"/>
          <p:cNvSpPr/>
          <p:nvPr/>
        </p:nvSpPr>
        <p:spPr>
          <a:xfrm>
            <a:off x="594360" y="320040"/>
            <a:ext cx="10058400" cy="274320"/>
          </a:xfrm>
          <a:prstGeom prst="rect">
            <a:avLst/>
          </a:prstGeom>
          <a:noFill/>
          <a:ln/>
        </p:spPr>
        <p:txBody>
          <a:bodyPr wrap="square" lIns="0" tIns="0" rIns="0" bIns="0" rtlCol="0" anchor="ctr">
            <a:normAutofit/>
          </a:bodyPr>
          <a:lstStyle/>
          <a:p>
            <a:pPr marL="0" indent="0">
              <a:buNone/>
            </a:pPr>
            <a:r>
              <a:rPr lang="en-US" sz="1100" b="1" kern="0" spc="200" dirty="0">
                <a:solidFill>
                  <a:srgbClr val="00A5A8"/>
                </a:solidFill>
                <a:latin typeface="Aptos" pitchFamily="34" charset="0"/>
                <a:ea typeface="Aptos" pitchFamily="34" charset="-122"/>
                <a:cs typeface="Aptos" pitchFamily="34" charset="-120"/>
              </a:rPr>
              <a:t>MARCO TEÓRICO</a:t>
            </a:r>
            <a:endParaRPr lang="en-US" sz="1100" dirty="0"/>
          </a:p>
        </p:txBody>
      </p:sp>
      <p:sp>
        <p:nvSpPr>
          <p:cNvPr id="4" name="Text 2"/>
          <p:cNvSpPr/>
          <p:nvPr/>
        </p:nvSpPr>
        <p:spPr>
          <a:xfrm>
            <a:off x="594360" y="731520"/>
            <a:ext cx="10972800" cy="658368"/>
          </a:xfrm>
          <a:prstGeom prst="rect">
            <a:avLst/>
          </a:prstGeom>
          <a:noFill/>
          <a:ln/>
        </p:spPr>
        <p:txBody>
          <a:bodyPr wrap="square" lIns="0" tIns="0" rIns="0" bIns="0" rtlCol="0" anchor="ctr">
            <a:normAutofit/>
          </a:bodyPr>
          <a:lstStyle/>
          <a:p>
            <a:pPr marL="0" indent="0">
              <a:buNone/>
            </a:pPr>
            <a:r>
              <a:rPr lang="en-US" sz="2900" b="1" dirty="0">
                <a:solidFill>
                  <a:srgbClr val="12223C"/>
                </a:solidFill>
                <a:latin typeface="Aptos" pitchFamily="34" charset="0"/>
                <a:ea typeface="Aptos" pitchFamily="34" charset="-122"/>
                <a:cs typeface="Aptos" pitchFamily="34" charset="-120"/>
              </a:rPr>
              <a:t>Origen y fundamento de la familia ART</a:t>
            </a:r>
            <a:endParaRPr lang="en-US" sz="2900" dirty="0"/>
          </a:p>
        </p:txBody>
      </p:sp>
      <p:sp>
        <p:nvSpPr>
          <p:cNvPr id="5" name="Text 3"/>
          <p:cNvSpPr/>
          <p:nvPr/>
        </p:nvSpPr>
        <p:spPr>
          <a:xfrm>
            <a:off x="594360" y="6510528"/>
            <a:ext cx="8229600" cy="201168"/>
          </a:xfrm>
          <a:prstGeom prst="rect">
            <a:avLst/>
          </a:prstGeom>
          <a:noFill/>
          <a:ln/>
        </p:spPr>
        <p:txBody>
          <a:bodyPr wrap="square" lIns="0" tIns="0" rIns="0" bIns="0" rtlCol="0" anchor="ctr">
            <a:normAutofit/>
          </a:bodyPr>
          <a:lstStyle/>
          <a:p>
            <a:pPr marL="0" indent="0">
              <a:buNone/>
            </a:pPr>
            <a:r>
              <a:rPr lang="en-US" sz="1000" dirty="0">
                <a:solidFill>
                  <a:srgbClr val="607189"/>
                </a:solidFill>
                <a:latin typeface="Aptos" pitchFamily="34" charset="0"/>
                <a:ea typeface="Aptos" pitchFamily="34" charset="-122"/>
                <a:cs typeface="Aptos" pitchFamily="34" charset="-120"/>
              </a:rPr>
              <a:t>TFI · Inteligencia Artificial · UADER</a:t>
            </a:r>
            <a:endParaRPr lang="en-US" sz="1000" dirty="0"/>
          </a:p>
        </p:txBody>
      </p:sp>
      <p:sp>
        <p:nvSpPr>
          <p:cNvPr id="6" name="Text 4"/>
          <p:cNvSpPr/>
          <p:nvPr/>
        </p:nvSpPr>
        <p:spPr>
          <a:xfrm>
            <a:off x="11082528" y="6483096"/>
            <a:ext cx="502920" cy="228600"/>
          </a:xfrm>
          <a:prstGeom prst="rect">
            <a:avLst/>
          </a:prstGeom>
          <a:noFill/>
          <a:ln/>
        </p:spPr>
        <p:txBody>
          <a:bodyPr wrap="square" lIns="0" tIns="0" rIns="0" bIns="0" rtlCol="0" anchor="ctr">
            <a:normAutofit/>
          </a:bodyPr>
          <a:lstStyle/>
          <a:p>
            <a:pPr marL="0" indent="0" algn="r">
              <a:buNone/>
            </a:pPr>
            <a:r>
              <a:rPr lang="en-US" sz="1000" dirty="0">
                <a:solidFill>
                  <a:srgbClr val="607189"/>
                </a:solidFill>
                <a:latin typeface="Aptos" pitchFamily="34" charset="0"/>
                <a:ea typeface="Aptos" pitchFamily="34" charset="-122"/>
                <a:cs typeface="Aptos" pitchFamily="34" charset="-120"/>
              </a:rPr>
              <a:t>03</a:t>
            </a:r>
            <a:endParaRPr lang="en-US" sz="1000" dirty="0"/>
          </a:p>
        </p:txBody>
      </p:sp>
      <p:sp>
        <p:nvSpPr>
          <p:cNvPr id="7" name="Shape 5"/>
          <p:cNvSpPr/>
          <p:nvPr/>
        </p:nvSpPr>
        <p:spPr>
          <a:xfrm>
            <a:off x="640080" y="1700784"/>
            <a:ext cx="5394960" cy="3611880"/>
          </a:xfrm>
          <a:prstGeom prst="roundRect">
            <a:avLst>
              <a:gd name="adj" fmla="val 3797"/>
            </a:avLst>
          </a:prstGeom>
          <a:solidFill>
            <a:srgbClr val="FFFFFF"/>
          </a:solidFill>
          <a:ln w="3810">
            <a:solidFill>
              <a:srgbClr val="FFFFFF"/>
            </a:solidFill>
            <a:prstDash val="solid"/>
          </a:ln>
        </p:spPr>
      </p:sp>
      <p:sp>
        <p:nvSpPr>
          <p:cNvPr id="8" name="Shape 6"/>
          <p:cNvSpPr/>
          <p:nvPr/>
        </p:nvSpPr>
        <p:spPr>
          <a:xfrm>
            <a:off x="640080" y="1700784"/>
            <a:ext cx="68580" cy="3611880"/>
          </a:xfrm>
          <a:prstGeom prst="roundRect">
            <a:avLst/>
          </a:prstGeom>
          <a:solidFill>
            <a:srgbClr val="315E9B"/>
          </a:solidFill>
          <a:ln w="3810">
            <a:solidFill>
              <a:srgbClr val="315E9B"/>
            </a:solidFill>
            <a:prstDash val="solid"/>
          </a:ln>
        </p:spPr>
      </p:sp>
      <p:sp>
        <p:nvSpPr>
          <p:cNvPr id="9" name="Text 7"/>
          <p:cNvSpPr/>
          <p:nvPr/>
        </p:nvSpPr>
        <p:spPr>
          <a:xfrm>
            <a:off x="850392" y="1883664"/>
            <a:ext cx="4983480" cy="347472"/>
          </a:xfrm>
          <a:prstGeom prst="rect">
            <a:avLst/>
          </a:prstGeom>
          <a:noFill/>
          <a:ln/>
        </p:spPr>
        <p:txBody>
          <a:bodyPr wrap="square" lIns="0" tIns="0" rIns="0" bIns="0" rtlCol="0" anchor="ctr">
            <a:normAutofit/>
          </a:bodyPr>
          <a:lstStyle/>
          <a:p>
            <a:pPr marL="0" indent="0">
              <a:buNone/>
            </a:pPr>
            <a:r>
              <a:rPr lang="en-US" sz="1700" b="1" dirty="0">
                <a:solidFill>
                  <a:srgbClr val="12223C"/>
                </a:solidFill>
                <a:latin typeface="Aptos" pitchFamily="34" charset="0"/>
                <a:ea typeface="Aptos" pitchFamily="34" charset="-122"/>
                <a:cs typeface="Aptos" pitchFamily="34" charset="-120"/>
              </a:rPr>
              <a:t>Carpenter y Grossberg</a:t>
            </a:r>
            <a:endParaRPr lang="en-US" sz="1700" dirty="0"/>
          </a:p>
        </p:txBody>
      </p:sp>
      <p:sp>
        <p:nvSpPr>
          <p:cNvPr id="10" name="Text 8"/>
          <p:cNvSpPr/>
          <p:nvPr/>
        </p:nvSpPr>
        <p:spPr>
          <a:xfrm>
            <a:off x="850392" y="2386584"/>
            <a:ext cx="4956048" cy="520739"/>
          </a:xfrm>
          <a:prstGeom prst="rect">
            <a:avLst/>
          </a:prstGeom>
          <a:noFill/>
          <a:ln/>
        </p:spPr>
        <p:txBody>
          <a:bodyPr wrap="square" lIns="0" tIns="0" rIns="0" bIns="0" rtlCol="0" anchor="t">
            <a:normAutofit/>
          </a:bodyPr>
          <a:lstStyle/>
          <a:p>
            <a:pPr marL="0" indent="0">
              <a:buNone/>
            </a:pPr>
            <a:r>
              <a:rPr lang="en-US" sz="1400" dirty="0" smtClean="0">
                <a:solidFill>
                  <a:srgbClr val="20324B"/>
                </a:solidFill>
                <a:latin typeface="Aptos" pitchFamily="34" charset="0"/>
                <a:ea typeface="Aptos" pitchFamily="34" charset="-122"/>
                <a:cs typeface="Aptos" pitchFamily="34" charset="-120"/>
              </a:rPr>
              <a:t>La </a:t>
            </a:r>
            <a:r>
              <a:rPr lang="en-US" sz="1400" dirty="0">
                <a:solidFill>
                  <a:srgbClr val="20324B"/>
                </a:solidFill>
                <a:latin typeface="Aptos" pitchFamily="34" charset="0"/>
                <a:ea typeface="Aptos" pitchFamily="34" charset="-122"/>
                <a:cs typeface="Aptos" pitchFamily="34" charset="-120"/>
              </a:rPr>
              <a:t>idea central es aprender información nueva sin </a:t>
            </a:r>
            <a:r>
              <a:rPr lang="en-US" sz="1400" dirty="0" err="1" smtClean="0">
                <a:solidFill>
                  <a:srgbClr val="20324B"/>
                </a:solidFill>
                <a:latin typeface="Aptos" pitchFamily="34" charset="0"/>
                <a:ea typeface="Aptos" pitchFamily="34" charset="-122"/>
                <a:cs typeface="Aptos" pitchFamily="34" charset="-120"/>
              </a:rPr>
              <a:t>perder</a:t>
            </a:r>
            <a:r>
              <a:rPr lang="en-US" sz="1400" dirty="0" smtClean="0">
                <a:solidFill>
                  <a:srgbClr val="20324B"/>
                </a:solidFill>
                <a:latin typeface="Aptos" pitchFamily="34" charset="0"/>
                <a:ea typeface="Aptos" pitchFamily="34" charset="-122"/>
                <a:cs typeface="Aptos" pitchFamily="34" charset="-120"/>
              </a:rPr>
              <a:t> </a:t>
            </a:r>
            <a:r>
              <a:rPr lang="en-US" sz="1400" dirty="0">
                <a:solidFill>
                  <a:srgbClr val="20324B"/>
                </a:solidFill>
                <a:latin typeface="Aptos" pitchFamily="34" charset="0"/>
                <a:ea typeface="Aptos" pitchFamily="34" charset="-122"/>
                <a:cs typeface="Aptos" pitchFamily="34" charset="-120"/>
              </a:rPr>
              <a:t>categorías ya aprendidas.</a:t>
            </a:r>
            <a:endParaRPr lang="en-US" sz="1400" dirty="0"/>
          </a:p>
        </p:txBody>
      </p:sp>
      <p:sp>
        <p:nvSpPr>
          <p:cNvPr id="15" name="Text 13"/>
          <p:cNvSpPr/>
          <p:nvPr/>
        </p:nvSpPr>
        <p:spPr>
          <a:xfrm>
            <a:off x="906311" y="3218219"/>
            <a:ext cx="4779381" cy="420624"/>
          </a:xfrm>
          <a:prstGeom prst="rect">
            <a:avLst/>
          </a:prstGeom>
          <a:noFill/>
          <a:ln/>
        </p:spPr>
        <p:txBody>
          <a:bodyPr wrap="square" lIns="0" tIns="0" rIns="0" bIns="0" rtlCol="0" anchor="ctr">
            <a:noAutofit/>
          </a:bodyPr>
          <a:lstStyle/>
          <a:p>
            <a:r>
              <a:rPr lang="es-ES" sz="1400" dirty="0">
                <a:solidFill>
                  <a:srgbClr val="20324B"/>
                </a:solidFill>
                <a:latin typeface="Aptos" pitchFamily="34" charset="0"/>
                <a:ea typeface="Aptos" pitchFamily="34" charset="-122"/>
                <a:cs typeface="Aptos" pitchFamily="34" charset="-120"/>
              </a:rPr>
              <a:t>La Teoría de Resonancia Adaptativa </a:t>
            </a:r>
            <a:r>
              <a:rPr lang="es-ES" sz="1400" dirty="0" smtClean="0">
                <a:solidFill>
                  <a:srgbClr val="20324B"/>
                </a:solidFill>
                <a:latin typeface="Aptos" pitchFamily="34" charset="0"/>
                <a:ea typeface="Aptos" pitchFamily="34" charset="-122"/>
                <a:cs typeface="Aptos" pitchFamily="34" charset="-120"/>
              </a:rPr>
              <a:t>(ART) surgió </a:t>
            </a:r>
            <a:r>
              <a:rPr lang="es-ES" sz="1400" dirty="0">
                <a:solidFill>
                  <a:srgbClr val="20324B"/>
                </a:solidFill>
                <a:latin typeface="Aptos" pitchFamily="34" charset="0"/>
                <a:ea typeface="Aptos" pitchFamily="34" charset="-122"/>
                <a:cs typeface="Aptos" pitchFamily="34" charset="-120"/>
              </a:rPr>
              <a:t>para estudiar cómo equilibrar dos necesidades:</a:t>
            </a:r>
            <a:endParaRPr lang="en-US" sz="1400" dirty="0">
              <a:solidFill>
                <a:srgbClr val="20324B"/>
              </a:solidFill>
              <a:latin typeface="Aptos" pitchFamily="34" charset="0"/>
              <a:ea typeface="Aptos" pitchFamily="34" charset="-122"/>
              <a:cs typeface="Aptos" pitchFamily="34" charset="-120"/>
            </a:endParaRPr>
          </a:p>
        </p:txBody>
      </p:sp>
      <p:sp>
        <p:nvSpPr>
          <p:cNvPr id="18" name="Rectángulo redondeado 17"/>
          <p:cNvSpPr/>
          <p:nvPr/>
        </p:nvSpPr>
        <p:spPr>
          <a:xfrm>
            <a:off x="906311" y="3919494"/>
            <a:ext cx="2159681" cy="1100093"/>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400" b="1" dirty="0">
                <a:solidFill>
                  <a:schemeClr val="tx1"/>
                </a:solidFill>
                <a:ea typeface="Aptos"/>
              </a:rPr>
              <a:t>Estabilidad</a:t>
            </a:r>
            <a:endParaRPr lang="es-ES" sz="1600" b="1" dirty="0">
              <a:solidFill>
                <a:schemeClr val="tx1"/>
              </a:solidFill>
              <a:ea typeface="Aptos"/>
            </a:endParaRPr>
          </a:p>
          <a:p>
            <a:endParaRPr lang="es-ES" sz="1100" dirty="0">
              <a:ea typeface="Aptos"/>
            </a:endParaRPr>
          </a:p>
          <a:p>
            <a:r>
              <a:rPr lang="es-ES" sz="1200" dirty="0">
                <a:solidFill>
                  <a:schemeClr val="tx1"/>
                </a:solidFill>
                <a:ea typeface="Aptos"/>
              </a:rPr>
              <a:t>Conservar los conocimientos aprendidos anteriormente.</a:t>
            </a:r>
            <a:endParaRPr lang="en-US" sz="1200" dirty="0">
              <a:solidFill>
                <a:schemeClr val="tx1"/>
              </a:solidFill>
              <a:ea typeface="Aptos"/>
            </a:endParaRPr>
          </a:p>
        </p:txBody>
      </p:sp>
      <p:sp>
        <p:nvSpPr>
          <p:cNvPr id="19" name="Rectángulo redondeado 18"/>
          <p:cNvSpPr/>
          <p:nvPr/>
        </p:nvSpPr>
        <p:spPr>
          <a:xfrm>
            <a:off x="3263644" y="3919494"/>
            <a:ext cx="2199310" cy="1100093"/>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400" b="1" dirty="0" smtClean="0">
                <a:solidFill>
                  <a:schemeClr val="tx1"/>
                </a:solidFill>
                <a:latin typeface="+mj-lt"/>
                <a:ea typeface="Aptos"/>
              </a:rPr>
              <a:t>Plasticidad</a:t>
            </a:r>
            <a:endParaRPr lang="es-ES" sz="1600" b="1" dirty="0" smtClean="0">
              <a:solidFill>
                <a:schemeClr val="tx1"/>
              </a:solidFill>
              <a:latin typeface="+mj-lt"/>
              <a:ea typeface="Aptos"/>
            </a:endParaRPr>
          </a:p>
          <a:p>
            <a:endParaRPr lang="es-ES" sz="1100" dirty="0">
              <a:solidFill>
                <a:schemeClr val="tx1"/>
              </a:solidFill>
              <a:latin typeface="+mj-lt"/>
              <a:ea typeface="Aptos"/>
            </a:endParaRPr>
          </a:p>
          <a:p>
            <a:r>
              <a:rPr lang="es-ES" sz="1200" dirty="0">
                <a:solidFill>
                  <a:schemeClr val="tx1"/>
                </a:solidFill>
                <a:latin typeface="+mj-lt"/>
                <a:ea typeface="Aptos"/>
              </a:rPr>
              <a:t>Incorporar información nueva y adaptarse a ella.</a:t>
            </a:r>
            <a:endParaRPr lang="en-US" sz="1200" dirty="0">
              <a:solidFill>
                <a:schemeClr val="tx1"/>
              </a:solidFill>
              <a:latin typeface="+mj-lt"/>
              <a:ea typeface="Aptos"/>
            </a:endParaRPr>
          </a:p>
        </p:txBody>
      </p:sp>
      <p:pic>
        <p:nvPicPr>
          <p:cNvPr id="20" name="Imagen 19"/>
          <p:cNvPicPr>
            <a:picLocks noChangeAspect="1"/>
          </p:cNvPicPr>
          <p:nvPr/>
        </p:nvPicPr>
        <p:blipFill rotWithShape="1">
          <a:blip r:embed="rId3"/>
          <a:srcRect l="2387"/>
          <a:stretch/>
        </p:blipFill>
        <p:spPr>
          <a:xfrm>
            <a:off x="6380815" y="2340565"/>
            <a:ext cx="4886290" cy="2789219"/>
          </a:xfrm>
          <a:prstGeom prst="rect">
            <a:avLst/>
          </a:prstGeom>
        </p:spPr>
      </p:pic>
      <p:sp>
        <p:nvSpPr>
          <p:cNvPr id="21" name="Text 7"/>
          <p:cNvSpPr/>
          <p:nvPr/>
        </p:nvSpPr>
        <p:spPr>
          <a:xfrm>
            <a:off x="6380815" y="1862328"/>
            <a:ext cx="4983480" cy="347472"/>
          </a:xfrm>
          <a:prstGeom prst="rect">
            <a:avLst/>
          </a:prstGeom>
          <a:noFill/>
          <a:ln/>
        </p:spPr>
        <p:txBody>
          <a:bodyPr wrap="square" lIns="0" tIns="0" rIns="0" bIns="0" rtlCol="0" anchor="ctr">
            <a:normAutofit/>
          </a:bodyPr>
          <a:lstStyle/>
          <a:p>
            <a:r>
              <a:rPr lang="en-US" sz="1700" b="1" dirty="0">
                <a:solidFill>
                  <a:srgbClr val="12223C"/>
                </a:solidFill>
                <a:latin typeface="Aptos" pitchFamily="34" charset="0"/>
                <a:ea typeface="Aptos" pitchFamily="34" charset="-122"/>
                <a:cs typeface="Aptos" pitchFamily="34" charset="-120"/>
              </a:rPr>
              <a:t>Idea central de ART</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oundRect">
            <a:avLst/>
          </a:prstGeom>
          <a:solidFill>
            <a:srgbClr val="00A5A8"/>
          </a:solidFill>
          <a:ln w="3810">
            <a:solidFill>
              <a:srgbClr val="00A5A8"/>
            </a:solidFill>
            <a:prstDash val="solid"/>
          </a:ln>
        </p:spPr>
      </p:sp>
      <p:sp>
        <p:nvSpPr>
          <p:cNvPr id="3" name="Text 1"/>
          <p:cNvSpPr/>
          <p:nvPr/>
        </p:nvSpPr>
        <p:spPr>
          <a:xfrm>
            <a:off x="594360" y="320040"/>
            <a:ext cx="10058400" cy="274320"/>
          </a:xfrm>
          <a:prstGeom prst="rect">
            <a:avLst/>
          </a:prstGeom>
          <a:noFill/>
          <a:ln/>
        </p:spPr>
        <p:txBody>
          <a:bodyPr wrap="square" lIns="0" tIns="0" rIns="0" bIns="0" rtlCol="0" anchor="ctr">
            <a:normAutofit/>
          </a:bodyPr>
          <a:lstStyle/>
          <a:p>
            <a:pPr marL="0" indent="0">
              <a:buNone/>
            </a:pPr>
            <a:r>
              <a:rPr lang="en-US" sz="1100" b="1" kern="0" spc="200" dirty="0">
                <a:solidFill>
                  <a:srgbClr val="00A5A8"/>
                </a:solidFill>
                <a:latin typeface="Aptos" pitchFamily="34" charset="0"/>
                <a:ea typeface="Aptos" pitchFamily="34" charset="-122"/>
                <a:cs typeface="Aptos" pitchFamily="34" charset="-120"/>
              </a:rPr>
              <a:t>COMPARACIÓN </a:t>
            </a:r>
            <a:r>
              <a:rPr lang="en-US" sz="1100" b="1" kern="0" spc="200" dirty="0" smtClean="0">
                <a:solidFill>
                  <a:srgbClr val="00A5A8"/>
                </a:solidFill>
                <a:latin typeface="Aptos" pitchFamily="34" charset="0"/>
                <a:ea typeface="Aptos" pitchFamily="34" charset="-122"/>
                <a:cs typeface="Aptos" pitchFamily="34" charset="-120"/>
              </a:rPr>
              <a:t>DE REDES</a:t>
            </a:r>
            <a:endParaRPr lang="en-US" sz="1100" dirty="0"/>
          </a:p>
        </p:txBody>
      </p:sp>
      <p:sp>
        <p:nvSpPr>
          <p:cNvPr id="4" name="Text 2"/>
          <p:cNvSpPr/>
          <p:nvPr/>
        </p:nvSpPr>
        <p:spPr>
          <a:xfrm>
            <a:off x="594360" y="731520"/>
            <a:ext cx="10972800" cy="658368"/>
          </a:xfrm>
          <a:prstGeom prst="rect">
            <a:avLst/>
          </a:prstGeom>
          <a:noFill/>
          <a:ln/>
        </p:spPr>
        <p:txBody>
          <a:bodyPr wrap="square" lIns="0" tIns="0" rIns="0" bIns="0" rtlCol="0" anchor="ctr">
            <a:normAutofit/>
          </a:bodyPr>
          <a:lstStyle/>
          <a:p>
            <a:pPr marL="0" indent="0">
              <a:buNone/>
            </a:pPr>
            <a:r>
              <a:rPr lang="en-US" sz="2900" b="1" dirty="0">
                <a:solidFill>
                  <a:srgbClr val="12223C"/>
                </a:solidFill>
                <a:latin typeface="Aptos" pitchFamily="34" charset="0"/>
                <a:ea typeface="Aptos" pitchFamily="34" charset="-122"/>
                <a:cs typeface="Aptos" pitchFamily="34" charset="-120"/>
              </a:rPr>
              <a:t>¿Qué distingue a esta red de otras?</a:t>
            </a:r>
            <a:endParaRPr lang="en-US" sz="2900" dirty="0"/>
          </a:p>
        </p:txBody>
      </p:sp>
      <p:sp>
        <p:nvSpPr>
          <p:cNvPr id="5" name="Text 3"/>
          <p:cNvSpPr/>
          <p:nvPr/>
        </p:nvSpPr>
        <p:spPr>
          <a:xfrm>
            <a:off x="594360" y="6510528"/>
            <a:ext cx="8229600" cy="201168"/>
          </a:xfrm>
          <a:prstGeom prst="rect">
            <a:avLst/>
          </a:prstGeom>
          <a:noFill/>
          <a:ln/>
        </p:spPr>
        <p:txBody>
          <a:bodyPr wrap="square" lIns="0" tIns="0" rIns="0" bIns="0" rtlCol="0" anchor="ctr">
            <a:normAutofit/>
          </a:bodyPr>
          <a:lstStyle/>
          <a:p>
            <a:pPr marL="0" indent="0">
              <a:buNone/>
            </a:pPr>
            <a:r>
              <a:rPr lang="en-US" sz="1000" dirty="0">
                <a:solidFill>
                  <a:srgbClr val="607189"/>
                </a:solidFill>
                <a:latin typeface="Aptos" pitchFamily="34" charset="0"/>
                <a:ea typeface="Aptos" pitchFamily="34" charset="-122"/>
                <a:cs typeface="Aptos" pitchFamily="34" charset="-120"/>
              </a:rPr>
              <a:t>TFI · Inteligencia Artificial · UADER</a:t>
            </a:r>
            <a:endParaRPr lang="en-US" sz="1000" dirty="0"/>
          </a:p>
        </p:txBody>
      </p:sp>
      <p:sp>
        <p:nvSpPr>
          <p:cNvPr id="6" name="Text 4"/>
          <p:cNvSpPr/>
          <p:nvPr/>
        </p:nvSpPr>
        <p:spPr>
          <a:xfrm>
            <a:off x="11082528" y="6483096"/>
            <a:ext cx="502920" cy="228600"/>
          </a:xfrm>
          <a:prstGeom prst="rect">
            <a:avLst/>
          </a:prstGeom>
          <a:noFill/>
          <a:ln/>
        </p:spPr>
        <p:txBody>
          <a:bodyPr wrap="square" lIns="0" tIns="0" rIns="0" bIns="0" rtlCol="0" anchor="ctr">
            <a:normAutofit/>
          </a:bodyPr>
          <a:lstStyle/>
          <a:p>
            <a:pPr marL="0" indent="0" algn="r">
              <a:buNone/>
            </a:pPr>
            <a:r>
              <a:rPr lang="en-US" sz="1000" dirty="0">
                <a:solidFill>
                  <a:srgbClr val="607189"/>
                </a:solidFill>
                <a:latin typeface="Aptos" pitchFamily="34" charset="0"/>
                <a:ea typeface="Aptos" pitchFamily="34" charset="-122"/>
                <a:cs typeface="Aptos" pitchFamily="34" charset="-120"/>
              </a:rPr>
              <a:t>04</a:t>
            </a:r>
            <a:endParaRPr lang="en-US" sz="1000" dirty="0"/>
          </a:p>
        </p:txBody>
      </p:sp>
      <p:sp>
        <p:nvSpPr>
          <p:cNvPr id="7" name="Shape 5"/>
          <p:cNvSpPr/>
          <p:nvPr/>
        </p:nvSpPr>
        <p:spPr>
          <a:xfrm>
            <a:off x="658368" y="1737360"/>
            <a:ext cx="3017520" cy="530352"/>
          </a:xfrm>
          <a:prstGeom prst="roundRect">
            <a:avLst>
              <a:gd name="adj" fmla="val 25862"/>
            </a:avLst>
          </a:prstGeom>
          <a:solidFill>
            <a:srgbClr val="12223C"/>
          </a:solidFill>
          <a:ln w="3810">
            <a:solidFill>
              <a:srgbClr val="12223C"/>
            </a:solidFill>
            <a:prstDash val="solid"/>
          </a:ln>
        </p:spPr>
      </p:sp>
      <p:sp>
        <p:nvSpPr>
          <p:cNvPr id="8" name="Text 6"/>
          <p:cNvSpPr/>
          <p:nvPr/>
        </p:nvSpPr>
        <p:spPr>
          <a:xfrm>
            <a:off x="795528" y="1847088"/>
            <a:ext cx="2743200" cy="274320"/>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Aptos" pitchFamily="34" charset="0"/>
                <a:ea typeface="Aptos" pitchFamily="34" charset="-122"/>
                <a:cs typeface="Aptos" pitchFamily="34" charset="-120"/>
              </a:rPr>
              <a:t>Modelo</a:t>
            </a:r>
            <a:endParaRPr lang="en-US" sz="1500" dirty="0"/>
          </a:p>
        </p:txBody>
      </p:sp>
      <p:sp>
        <p:nvSpPr>
          <p:cNvPr id="9" name="Shape 7"/>
          <p:cNvSpPr/>
          <p:nvPr/>
        </p:nvSpPr>
        <p:spPr>
          <a:xfrm>
            <a:off x="3858768" y="1737360"/>
            <a:ext cx="4846320" cy="530352"/>
          </a:xfrm>
          <a:prstGeom prst="roundRect">
            <a:avLst>
              <a:gd name="adj" fmla="val 25862"/>
            </a:avLst>
          </a:prstGeom>
          <a:solidFill>
            <a:srgbClr val="12223C"/>
          </a:solidFill>
          <a:ln w="3810">
            <a:solidFill>
              <a:srgbClr val="12223C"/>
            </a:solidFill>
            <a:prstDash val="solid"/>
          </a:ln>
        </p:spPr>
      </p:sp>
      <p:sp>
        <p:nvSpPr>
          <p:cNvPr id="10" name="Text 8"/>
          <p:cNvSpPr/>
          <p:nvPr/>
        </p:nvSpPr>
        <p:spPr>
          <a:xfrm>
            <a:off x="3995928" y="1847088"/>
            <a:ext cx="4572000" cy="274320"/>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Aptos" pitchFamily="34" charset="0"/>
                <a:ea typeface="Aptos" pitchFamily="34" charset="-122"/>
                <a:cs typeface="Aptos" pitchFamily="34" charset="-120"/>
              </a:rPr>
              <a:t>Cómo aprende</a:t>
            </a:r>
            <a:endParaRPr lang="en-US" sz="1500" dirty="0"/>
          </a:p>
        </p:txBody>
      </p:sp>
      <p:sp>
        <p:nvSpPr>
          <p:cNvPr id="11" name="Shape 9"/>
          <p:cNvSpPr/>
          <p:nvPr/>
        </p:nvSpPr>
        <p:spPr>
          <a:xfrm>
            <a:off x="8915400" y="1737360"/>
            <a:ext cx="2651760" cy="530352"/>
          </a:xfrm>
          <a:prstGeom prst="roundRect">
            <a:avLst>
              <a:gd name="adj" fmla="val 25862"/>
            </a:avLst>
          </a:prstGeom>
          <a:solidFill>
            <a:srgbClr val="12223C"/>
          </a:solidFill>
          <a:ln w="3810">
            <a:solidFill>
              <a:srgbClr val="12223C"/>
            </a:solidFill>
            <a:prstDash val="solid"/>
          </a:ln>
        </p:spPr>
      </p:sp>
      <p:sp>
        <p:nvSpPr>
          <p:cNvPr id="12" name="Text 10"/>
          <p:cNvSpPr/>
          <p:nvPr/>
        </p:nvSpPr>
        <p:spPr>
          <a:xfrm>
            <a:off x="9052560" y="1847088"/>
            <a:ext cx="2377440" cy="274320"/>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Aptos" pitchFamily="34" charset="0"/>
                <a:ea typeface="Aptos" pitchFamily="34" charset="-122"/>
                <a:cs typeface="Aptos" pitchFamily="34" charset="-120"/>
              </a:rPr>
              <a:t>¿Grupos fijados?</a:t>
            </a:r>
            <a:endParaRPr lang="en-US" sz="1500" dirty="0"/>
          </a:p>
        </p:txBody>
      </p:sp>
      <p:sp>
        <p:nvSpPr>
          <p:cNvPr id="13" name="Shape 11"/>
          <p:cNvSpPr/>
          <p:nvPr/>
        </p:nvSpPr>
        <p:spPr>
          <a:xfrm>
            <a:off x="658368" y="2404872"/>
            <a:ext cx="3017520" cy="795528"/>
          </a:xfrm>
          <a:prstGeom prst="roundRect">
            <a:avLst>
              <a:gd name="adj" fmla="val 17241"/>
            </a:avLst>
          </a:prstGeom>
          <a:solidFill>
            <a:srgbClr val="EAF0F7"/>
          </a:solidFill>
          <a:ln w="3810">
            <a:solidFill>
              <a:srgbClr val="EAF0F7"/>
            </a:solidFill>
            <a:prstDash val="solid"/>
          </a:ln>
        </p:spPr>
      </p:sp>
      <p:sp>
        <p:nvSpPr>
          <p:cNvPr id="14" name="Text 12"/>
          <p:cNvSpPr/>
          <p:nvPr/>
        </p:nvSpPr>
        <p:spPr>
          <a:xfrm>
            <a:off x="786384" y="2496312"/>
            <a:ext cx="2761488" cy="585216"/>
          </a:xfrm>
          <a:prstGeom prst="rect">
            <a:avLst/>
          </a:prstGeom>
          <a:noFill/>
          <a:ln/>
        </p:spPr>
        <p:txBody>
          <a:bodyPr wrap="square" lIns="0" tIns="0" rIns="0" bIns="0" rtlCol="0" anchor="ctr">
            <a:normAutofit/>
          </a:bodyPr>
          <a:lstStyle/>
          <a:p>
            <a:pPr marL="0" indent="0">
              <a:buNone/>
            </a:pPr>
            <a:r>
              <a:rPr lang="en-US" sz="1400" b="1" dirty="0">
                <a:solidFill>
                  <a:srgbClr val="20324B"/>
                </a:solidFill>
                <a:latin typeface="Aptos" pitchFamily="34" charset="0"/>
                <a:ea typeface="Aptos" pitchFamily="34" charset="-122"/>
                <a:cs typeface="Aptos" pitchFamily="34" charset="-120"/>
              </a:rPr>
              <a:t>Nuestra variante Fuzzy ART</a:t>
            </a:r>
            <a:endParaRPr lang="en-US" sz="1400" dirty="0"/>
          </a:p>
        </p:txBody>
      </p:sp>
      <p:sp>
        <p:nvSpPr>
          <p:cNvPr id="15" name="Shape 13"/>
          <p:cNvSpPr/>
          <p:nvPr/>
        </p:nvSpPr>
        <p:spPr>
          <a:xfrm>
            <a:off x="3858768" y="2404872"/>
            <a:ext cx="4846320" cy="795528"/>
          </a:xfrm>
          <a:prstGeom prst="roundRect">
            <a:avLst>
              <a:gd name="adj" fmla="val 17241"/>
            </a:avLst>
          </a:prstGeom>
          <a:solidFill>
            <a:srgbClr val="EAF0F7"/>
          </a:solidFill>
          <a:ln w="3810">
            <a:solidFill>
              <a:srgbClr val="EAF0F7"/>
            </a:solidFill>
            <a:prstDash val="solid"/>
          </a:ln>
        </p:spPr>
      </p:sp>
      <p:sp>
        <p:nvSpPr>
          <p:cNvPr id="16" name="Text 14"/>
          <p:cNvSpPr/>
          <p:nvPr/>
        </p:nvSpPr>
        <p:spPr>
          <a:xfrm>
            <a:off x="3986784" y="2496312"/>
            <a:ext cx="4590288" cy="585216"/>
          </a:xfrm>
          <a:prstGeom prst="rect">
            <a:avLst/>
          </a:prstGeom>
          <a:noFill/>
          <a:ln/>
        </p:spPr>
        <p:txBody>
          <a:bodyPr wrap="square" lIns="0" tIns="0" rIns="0" bIns="0" rtlCol="0" anchor="ctr">
            <a:normAutofit/>
          </a:bodyPr>
          <a:lstStyle/>
          <a:p>
            <a:r>
              <a:rPr lang="es-ES" sz="1400" dirty="0">
                <a:solidFill>
                  <a:schemeClr val="accent1">
                    <a:lumMod val="50000"/>
                  </a:schemeClr>
                </a:solidFill>
                <a:latin typeface="Aptos"/>
                <a:ea typeface="Aptos"/>
              </a:rPr>
              <a:t>Aprende categorías según un criterio de similitud y vigilancia.</a:t>
            </a:r>
            <a:endParaRPr lang="en-US" sz="1400" dirty="0">
              <a:solidFill>
                <a:schemeClr val="accent1">
                  <a:lumMod val="50000"/>
                </a:schemeClr>
              </a:solidFill>
              <a:latin typeface="Aptos"/>
              <a:ea typeface="Aptos"/>
            </a:endParaRPr>
          </a:p>
        </p:txBody>
      </p:sp>
      <p:sp>
        <p:nvSpPr>
          <p:cNvPr id="17" name="Shape 15"/>
          <p:cNvSpPr/>
          <p:nvPr/>
        </p:nvSpPr>
        <p:spPr>
          <a:xfrm>
            <a:off x="8915400" y="2404872"/>
            <a:ext cx="2651760" cy="795528"/>
          </a:xfrm>
          <a:prstGeom prst="roundRect">
            <a:avLst>
              <a:gd name="adj" fmla="val 17241"/>
            </a:avLst>
          </a:prstGeom>
          <a:solidFill>
            <a:srgbClr val="EAF0F7"/>
          </a:solidFill>
          <a:ln w="3810">
            <a:solidFill>
              <a:srgbClr val="EAF0F7"/>
            </a:solidFill>
            <a:prstDash val="solid"/>
          </a:ln>
        </p:spPr>
      </p:sp>
      <p:sp>
        <p:nvSpPr>
          <p:cNvPr id="18" name="Text 16"/>
          <p:cNvSpPr/>
          <p:nvPr/>
        </p:nvSpPr>
        <p:spPr>
          <a:xfrm>
            <a:off x="9043416" y="2496312"/>
            <a:ext cx="2395728" cy="585216"/>
          </a:xfrm>
          <a:prstGeom prst="rect">
            <a:avLst/>
          </a:prstGeom>
          <a:noFill/>
          <a:ln/>
        </p:spPr>
        <p:txBody>
          <a:bodyPr wrap="square" lIns="0" tIns="0" rIns="0" bIns="0" rtlCol="0" anchor="ctr">
            <a:normAutofit/>
          </a:bodyPr>
          <a:lstStyle/>
          <a:p>
            <a:r>
              <a:rPr lang="en-US" sz="1200" dirty="0" smtClean="0">
                <a:solidFill>
                  <a:schemeClr val="accent1">
                    <a:lumMod val="75000"/>
                  </a:schemeClr>
                </a:solidFill>
                <a:latin typeface="Aptos"/>
                <a:ea typeface="Aptos"/>
                <a:cs typeface="Aptos" pitchFamily="34" charset="-120"/>
              </a:rPr>
              <a:t>No. </a:t>
            </a:r>
            <a:r>
              <a:rPr lang="es-ES" sz="1200" dirty="0">
                <a:solidFill>
                  <a:schemeClr val="accent1">
                    <a:lumMod val="75000"/>
                  </a:schemeClr>
                </a:solidFill>
                <a:latin typeface="Aptos"/>
                <a:ea typeface="Aptos"/>
              </a:rPr>
              <a:t>Puede crear nuevas categorías durante el procesamiento.</a:t>
            </a:r>
            <a:endParaRPr lang="en-US" sz="1200" dirty="0">
              <a:solidFill>
                <a:schemeClr val="accent1">
                  <a:lumMod val="75000"/>
                </a:schemeClr>
              </a:solidFill>
              <a:latin typeface="Aptos"/>
              <a:ea typeface="Aptos"/>
            </a:endParaRPr>
          </a:p>
        </p:txBody>
      </p:sp>
      <p:sp>
        <p:nvSpPr>
          <p:cNvPr id="19" name="Shape 17"/>
          <p:cNvSpPr/>
          <p:nvPr/>
        </p:nvSpPr>
        <p:spPr>
          <a:xfrm>
            <a:off x="658368" y="3364992"/>
            <a:ext cx="3017520" cy="795528"/>
          </a:xfrm>
          <a:prstGeom prst="roundRect">
            <a:avLst>
              <a:gd name="adj" fmla="val 17241"/>
            </a:avLst>
          </a:prstGeom>
          <a:solidFill>
            <a:srgbClr val="FFFFFF"/>
          </a:solidFill>
          <a:ln w="3810">
            <a:solidFill>
              <a:srgbClr val="FFFFFF"/>
            </a:solidFill>
            <a:prstDash val="solid"/>
          </a:ln>
        </p:spPr>
      </p:sp>
      <p:sp>
        <p:nvSpPr>
          <p:cNvPr id="20" name="Text 18"/>
          <p:cNvSpPr/>
          <p:nvPr/>
        </p:nvSpPr>
        <p:spPr>
          <a:xfrm>
            <a:off x="786384" y="3456432"/>
            <a:ext cx="2761488" cy="585216"/>
          </a:xfrm>
          <a:prstGeom prst="rect">
            <a:avLst/>
          </a:prstGeom>
          <a:noFill/>
          <a:ln/>
        </p:spPr>
        <p:txBody>
          <a:bodyPr wrap="square" lIns="0" tIns="0" rIns="0" bIns="0" rtlCol="0" anchor="ctr">
            <a:normAutofit/>
          </a:bodyPr>
          <a:lstStyle/>
          <a:p>
            <a:pPr marL="0" indent="0">
              <a:buNone/>
            </a:pPr>
            <a:r>
              <a:rPr lang="en-US" sz="1400" b="1" dirty="0">
                <a:solidFill>
                  <a:srgbClr val="20324B"/>
                </a:solidFill>
                <a:latin typeface="Aptos" pitchFamily="34" charset="0"/>
                <a:ea typeface="Aptos" pitchFamily="34" charset="-122"/>
                <a:cs typeface="Aptos" pitchFamily="34" charset="-120"/>
              </a:rPr>
              <a:t>K-means</a:t>
            </a:r>
            <a:endParaRPr lang="en-US" sz="1400" dirty="0"/>
          </a:p>
        </p:txBody>
      </p:sp>
      <p:sp>
        <p:nvSpPr>
          <p:cNvPr id="21" name="Shape 19"/>
          <p:cNvSpPr/>
          <p:nvPr/>
        </p:nvSpPr>
        <p:spPr>
          <a:xfrm>
            <a:off x="3858768" y="3387852"/>
            <a:ext cx="4846320" cy="795528"/>
          </a:xfrm>
          <a:prstGeom prst="roundRect">
            <a:avLst>
              <a:gd name="adj" fmla="val 17241"/>
            </a:avLst>
          </a:prstGeom>
          <a:solidFill>
            <a:srgbClr val="FFFFFF"/>
          </a:solidFill>
          <a:ln w="3810">
            <a:solidFill>
              <a:srgbClr val="FFFFFF"/>
            </a:solidFill>
            <a:prstDash val="solid"/>
          </a:ln>
        </p:spPr>
      </p:sp>
      <p:sp>
        <p:nvSpPr>
          <p:cNvPr id="22" name="Text 20"/>
          <p:cNvSpPr/>
          <p:nvPr/>
        </p:nvSpPr>
        <p:spPr>
          <a:xfrm>
            <a:off x="3986784" y="3456432"/>
            <a:ext cx="4590288" cy="585216"/>
          </a:xfrm>
          <a:prstGeom prst="rect">
            <a:avLst/>
          </a:prstGeom>
          <a:noFill/>
          <a:ln/>
        </p:spPr>
        <p:txBody>
          <a:bodyPr wrap="square" lIns="0" tIns="0" rIns="0" bIns="0" rtlCol="0" anchor="ctr">
            <a:normAutofit/>
          </a:bodyPr>
          <a:lstStyle/>
          <a:p>
            <a:r>
              <a:rPr lang="en-US" sz="1400" dirty="0" err="1">
                <a:solidFill>
                  <a:schemeClr val="accent1">
                    <a:lumMod val="50000"/>
                  </a:schemeClr>
                </a:solidFill>
                <a:latin typeface="Aptos"/>
                <a:ea typeface="Aptos"/>
              </a:rPr>
              <a:t>Agrupa</a:t>
            </a:r>
            <a:r>
              <a:rPr lang="en-US" sz="1400" dirty="0">
                <a:solidFill>
                  <a:schemeClr val="accent1">
                    <a:lumMod val="50000"/>
                  </a:schemeClr>
                </a:solidFill>
                <a:latin typeface="Aptos"/>
                <a:ea typeface="Aptos"/>
              </a:rPr>
              <a:t> </a:t>
            </a:r>
            <a:r>
              <a:rPr lang="en-US" sz="1400" dirty="0" err="1">
                <a:solidFill>
                  <a:schemeClr val="accent1">
                    <a:lumMod val="50000"/>
                  </a:schemeClr>
                </a:solidFill>
                <a:latin typeface="Aptos"/>
                <a:ea typeface="Aptos"/>
              </a:rPr>
              <a:t>registros</a:t>
            </a:r>
            <a:r>
              <a:rPr lang="en-US" sz="1400" dirty="0">
                <a:solidFill>
                  <a:schemeClr val="accent1">
                    <a:lumMod val="50000"/>
                  </a:schemeClr>
                </a:solidFill>
                <a:latin typeface="Aptos"/>
                <a:ea typeface="Aptos"/>
              </a:rPr>
              <a:t> </a:t>
            </a:r>
            <a:r>
              <a:rPr lang="en-US" sz="1400" dirty="0" err="1">
                <a:solidFill>
                  <a:schemeClr val="accent1">
                    <a:lumMod val="50000"/>
                  </a:schemeClr>
                </a:solidFill>
                <a:latin typeface="Aptos"/>
                <a:ea typeface="Aptos"/>
              </a:rPr>
              <a:t>alrededor</a:t>
            </a:r>
            <a:r>
              <a:rPr lang="en-US" sz="1400" dirty="0">
                <a:solidFill>
                  <a:schemeClr val="accent1">
                    <a:lumMod val="50000"/>
                  </a:schemeClr>
                </a:solidFill>
                <a:latin typeface="Aptos"/>
                <a:ea typeface="Aptos"/>
              </a:rPr>
              <a:t> de </a:t>
            </a:r>
            <a:r>
              <a:rPr lang="en-US" sz="1400" dirty="0" err="1">
                <a:solidFill>
                  <a:schemeClr val="accent1">
                    <a:lumMod val="50000"/>
                  </a:schemeClr>
                </a:solidFill>
                <a:latin typeface="Aptos"/>
                <a:ea typeface="Aptos"/>
              </a:rPr>
              <a:t>centroides</a:t>
            </a:r>
            <a:r>
              <a:rPr lang="en-US" sz="1400" dirty="0">
                <a:solidFill>
                  <a:schemeClr val="accent1">
                    <a:lumMod val="50000"/>
                  </a:schemeClr>
                </a:solidFill>
                <a:latin typeface="Aptos"/>
                <a:ea typeface="Aptos"/>
              </a:rPr>
              <a:t>.</a:t>
            </a:r>
            <a:endParaRPr lang="en-US" sz="1400" dirty="0">
              <a:solidFill>
                <a:schemeClr val="accent1">
                  <a:lumMod val="50000"/>
                </a:schemeClr>
              </a:solidFill>
              <a:latin typeface="Aptos"/>
              <a:ea typeface="Aptos"/>
            </a:endParaRPr>
          </a:p>
        </p:txBody>
      </p:sp>
      <p:sp>
        <p:nvSpPr>
          <p:cNvPr id="23" name="Shape 21"/>
          <p:cNvSpPr/>
          <p:nvPr/>
        </p:nvSpPr>
        <p:spPr>
          <a:xfrm>
            <a:off x="8915400" y="3364992"/>
            <a:ext cx="2651760" cy="795528"/>
          </a:xfrm>
          <a:prstGeom prst="roundRect">
            <a:avLst>
              <a:gd name="adj" fmla="val 17241"/>
            </a:avLst>
          </a:prstGeom>
          <a:solidFill>
            <a:srgbClr val="FFFFFF"/>
          </a:solidFill>
          <a:ln w="3810">
            <a:solidFill>
              <a:srgbClr val="FFFFFF"/>
            </a:solidFill>
            <a:prstDash val="solid"/>
          </a:ln>
        </p:spPr>
      </p:sp>
      <p:sp>
        <p:nvSpPr>
          <p:cNvPr id="24" name="Text 22"/>
          <p:cNvSpPr/>
          <p:nvPr/>
        </p:nvSpPr>
        <p:spPr>
          <a:xfrm>
            <a:off x="9043416" y="3456432"/>
            <a:ext cx="2395728" cy="585216"/>
          </a:xfrm>
          <a:prstGeom prst="rect">
            <a:avLst/>
          </a:prstGeom>
          <a:noFill/>
          <a:ln/>
        </p:spPr>
        <p:txBody>
          <a:bodyPr wrap="square" lIns="0" tIns="0" rIns="0" bIns="0" rtlCol="0" anchor="ctr">
            <a:normAutofit/>
          </a:bodyPr>
          <a:lstStyle/>
          <a:p>
            <a:r>
              <a:rPr lang="es-ES" sz="1200" dirty="0" smtClean="0">
                <a:solidFill>
                  <a:schemeClr val="accent1">
                    <a:lumMod val="75000"/>
                  </a:schemeClr>
                </a:solidFill>
                <a:latin typeface="Aptos"/>
                <a:ea typeface="Aptos"/>
              </a:rPr>
              <a:t>Si. Debemos </a:t>
            </a:r>
            <a:r>
              <a:rPr lang="es-ES" sz="1200" dirty="0">
                <a:solidFill>
                  <a:schemeClr val="accent1">
                    <a:lumMod val="75000"/>
                  </a:schemeClr>
                </a:solidFill>
                <a:latin typeface="Aptos"/>
                <a:ea typeface="Aptos"/>
              </a:rPr>
              <a:t>establecer previamente la cantidad de grupos </a:t>
            </a:r>
            <a:r>
              <a:rPr lang="es-ES" sz="1200" dirty="0" smtClean="0">
                <a:solidFill>
                  <a:schemeClr val="accent1">
                    <a:lumMod val="75000"/>
                  </a:schemeClr>
                </a:solidFill>
                <a:latin typeface="Aptos"/>
                <a:ea typeface="Aptos"/>
              </a:rPr>
              <a:t>(K).</a:t>
            </a:r>
            <a:endParaRPr lang="en-US" sz="1200" dirty="0">
              <a:solidFill>
                <a:schemeClr val="accent1">
                  <a:lumMod val="75000"/>
                </a:schemeClr>
              </a:solidFill>
              <a:latin typeface="Aptos"/>
              <a:ea typeface="Aptos"/>
            </a:endParaRPr>
          </a:p>
        </p:txBody>
      </p:sp>
      <p:sp>
        <p:nvSpPr>
          <p:cNvPr id="25" name="Shape 23"/>
          <p:cNvSpPr/>
          <p:nvPr/>
        </p:nvSpPr>
        <p:spPr>
          <a:xfrm>
            <a:off x="658368" y="4325112"/>
            <a:ext cx="3017520" cy="795528"/>
          </a:xfrm>
          <a:prstGeom prst="roundRect">
            <a:avLst>
              <a:gd name="adj" fmla="val 17241"/>
            </a:avLst>
          </a:prstGeom>
          <a:solidFill>
            <a:srgbClr val="EAF0F7"/>
          </a:solidFill>
          <a:ln w="3810">
            <a:solidFill>
              <a:srgbClr val="EAF0F7"/>
            </a:solidFill>
            <a:prstDash val="solid"/>
          </a:ln>
        </p:spPr>
      </p:sp>
      <p:sp>
        <p:nvSpPr>
          <p:cNvPr id="26" name="Text 24"/>
          <p:cNvSpPr/>
          <p:nvPr/>
        </p:nvSpPr>
        <p:spPr>
          <a:xfrm>
            <a:off x="786384" y="4416552"/>
            <a:ext cx="2761488" cy="585216"/>
          </a:xfrm>
          <a:prstGeom prst="rect">
            <a:avLst/>
          </a:prstGeom>
          <a:noFill/>
          <a:ln/>
        </p:spPr>
        <p:txBody>
          <a:bodyPr wrap="square" lIns="0" tIns="0" rIns="0" bIns="0" rtlCol="0" anchor="ctr">
            <a:normAutofit/>
          </a:bodyPr>
          <a:lstStyle/>
          <a:p>
            <a:pPr marL="0" indent="0">
              <a:buNone/>
            </a:pPr>
            <a:r>
              <a:rPr lang="en-US" sz="1400" b="1" dirty="0">
                <a:solidFill>
                  <a:srgbClr val="20324B"/>
                </a:solidFill>
                <a:latin typeface="Aptos" pitchFamily="34" charset="0"/>
                <a:ea typeface="Aptos" pitchFamily="34" charset="-122"/>
                <a:cs typeface="Aptos" pitchFamily="34" charset="-120"/>
              </a:rPr>
              <a:t>Perceptrón / MLP</a:t>
            </a:r>
            <a:endParaRPr lang="en-US" sz="1400" dirty="0"/>
          </a:p>
        </p:txBody>
      </p:sp>
      <p:sp>
        <p:nvSpPr>
          <p:cNvPr id="27" name="Shape 25"/>
          <p:cNvSpPr/>
          <p:nvPr/>
        </p:nvSpPr>
        <p:spPr>
          <a:xfrm>
            <a:off x="3858768" y="4325112"/>
            <a:ext cx="4846320" cy="795528"/>
          </a:xfrm>
          <a:prstGeom prst="roundRect">
            <a:avLst>
              <a:gd name="adj" fmla="val 17241"/>
            </a:avLst>
          </a:prstGeom>
          <a:solidFill>
            <a:srgbClr val="EAF0F7"/>
          </a:solidFill>
          <a:ln w="3810">
            <a:solidFill>
              <a:srgbClr val="EAF0F7"/>
            </a:solidFill>
            <a:prstDash val="solid"/>
          </a:ln>
        </p:spPr>
      </p:sp>
      <p:sp>
        <p:nvSpPr>
          <p:cNvPr id="28" name="Text 26"/>
          <p:cNvSpPr/>
          <p:nvPr/>
        </p:nvSpPr>
        <p:spPr>
          <a:xfrm>
            <a:off x="3986784" y="4416552"/>
            <a:ext cx="4590288" cy="585216"/>
          </a:xfrm>
          <a:prstGeom prst="rect">
            <a:avLst/>
          </a:prstGeom>
          <a:noFill/>
          <a:ln/>
        </p:spPr>
        <p:txBody>
          <a:bodyPr wrap="square" lIns="0" tIns="0" rIns="0" bIns="0" rtlCol="0" anchor="ctr">
            <a:normAutofit/>
          </a:bodyPr>
          <a:lstStyle/>
          <a:p>
            <a:r>
              <a:rPr lang="en-US" sz="1400" dirty="0" err="1">
                <a:solidFill>
                  <a:schemeClr val="accent1">
                    <a:lumMod val="50000"/>
                  </a:schemeClr>
                </a:solidFill>
                <a:latin typeface="Arial" panose="020B0604020202020204" pitchFamily="34" charset="0"/>
                <a:ea typeface="Aptos"/>
                <a:cs typeface="Arial" panose="020B0604020202020204" pitchFamily="34" charset="0"/>
              </a:rPr>
              <a:t>Aprende</a:t>
            </a:r>
            <a:r>
              <a:rPr lang="en-US" sz="1400" dirty="0">
                <a:solidFill>
                  <a:schemeClr val="accent1">
                    <a:lumMod val="50000"/>
                  </a:schemeClr>
                </a:solidFill>
                <a:latin typeface="Arial" panose="020B0604020202020204" pitchFamily="34" charset="0"/>
                <a:ea typeface="Aptos"/>
                <a:cs typeface="Arial" panose="020B0604020202020204" pitchFamily="34" charset="0"/>
              </a:rPr>
              <a:t> a </a:t>
            </a:r>
            <a:r>
              <a:rPr lang="en-US" sz="1400" dirty="0" err="1">
                <a:solidFill>
                  <a:schemeClr val="accent1">
                    <a:lumMod val="50000"/>
                  </a:schemeClr>
                </a:solidFill>
                <a:latin typeface="Arial" panose="020B0604020202020204" pitchFamily="34" charset="0"/>
                <a:ea typeface="Aptos"/>
                <a:cs typeface="Arial" panose="020B0604020202020204" pitchFamily="34" charset="0"/>
              </a:rPr>
              <a:t>predecir</a:t>
            </a:r>
            <a:r>
              <a:rPr lang="en-US" sz="1400" dirty="0">
                <a:solidFill>
                  <a:schemeClr val="accent1">
                    <a:lumMod val="50000"/>
                  </a:schemeClr>
                </a:solidFill>
                <a:latin typeface="Arial" panose="020B0604020202020204" pitchFamily="34" charset="0"/>
                <a:ea typeface="Aptos"/>
                <a:cs typeface="Arial" panose="020B0604020202020204" pitchFamily="34" charset="0"/>
              </a:rPr>
              <a:t> </a:t>
            </a:r>
            <a:r>
              <a:rPr lang="en-US" sz="1400" dirty="0" err="1">
                <a:solidFill>
                  <a:schemeClr val="accent1">
                    <a:lumMod val="50000"/>
                  </a:schemeClr>
                </a:solidFill>
                <a:latin typeface="Arial" panose="020B0604020202020204" pitchFamily="34" charset="0"/>
                <a:ea typeface="Aptos"/>
                <a:cs typeface="Arial" panose="020B0604020202020204" pitchFamily="34" charset="0"/>
              </a:rPr>
              <a:t>salidas</a:t>
            </a:r>
            <a:r>
              <a:rPr lang="en-US" sz="1400" dirty="0">
                <a:solidFill>
                  <a:schemeClr val="accent1">
                    <a:lumMod val="50000"/>
                  </a:schemeClr>
                </a:solidFill>
                <a:latin typeface="Arial" panose="020B0604020202020204" pitchFamily="34" charset="0"/>
                <a:ea typeface="Aptos"/>
                <a:cs typeface="Arial" panose="020B0604020202020204" pitchFamily="34" charset="0"/>
              </a:rPr>
              <a:t> a </a:t>
            </a:r>
            <a:r>
              <a:rPr lang="en-US" sz="1400" dirty="0" err="1">
                <a:solidFill>
                  <a:schemeClr val="accent1">
                    <a:lumMod val="50000"/>
                  </a:schemeClr>
                </a:solidFill>
                <a:latin typeface="Arial" panose="020B0604020202020204" pitchFamily="34" charset="0"/>
                <a:ea typeface="Aptos"/>
                <a:cs typeface="Arial" panose="020B0604020202020204" pitchFamily="34" charset="0"/>
              </a:rPr>
              <a:t>partir</a:t>
            </a:r>
            <a:r>
              <a:rPr lang="en-US" sz="1400" dirty="0">
                <a:solidFill>
                  <a:schemeClr val="accent1">
                    <a:lumMod val="50000"/>
                  </a:schemeClr>
                </a:solidFill>
                <a:latin typeface="Arial" panose="020B0604020202020204" pitchFamily="34" charset="0"/>
                <a:ea typeface="Aptos"/>
                <a:cs typeface="Arial" panose="020B0604020202020204" pitchFamily="34" charset="0"/>
              </a:rPr>
              <a:t> de </a:t>
            </a:r>
            <a:r>
              <a:rPr lang="en-US" sz="1400" dirty="0" err="1">
                <a:solidFill>
                  <a:schemeClr val="accent1">
                    <a:lumMod val="50000"/>
                  </a:schemeClr>
                </a:solidFill>
                <a:latin typeface="Arial" panose="020B0604020202020204" pitchFamily="34" charset="0"/>
                <a:ea typeface="Aptos"/>
                <a:cs typeface="Arial" panose="020B0604020202020204" pitchFamily="34" charset="0"/>
              </a:rPr>
              <a:t>ejemplos</a:t>
            </a:r>
            <a:r>
              <a:rPr lang="en-US" sz="1400" dirty="0">
                <a:solidFill>
                  <a:schemeClr val="accent1">
                    <a:lumMod val="50000"/>
                  </a:schemeClr>
                </a:solidFill>
                <a:latin typeface="Arial" panose="020B0604020202020204" pitchFamily="34" charset="0"/>
                <a:ea typeface="Aptos"/>
                <a:cs typeface="Arial" panose="020B0604020202020204" pitchFamily="34" charset="0"/>
              </a:rPr>
              <a:t>, </a:t>
            </a:r>
            <a:r>
              <a:rPr lang="en-US" sz="1400" dirty="0" err="1">
                <a:solidFill>
                  <a:schemeClr val="accent1">
                    <a:lumMod val="50000"/>
                  </a:schemeClr>
                </a:solidFill>
                <a:latin typeface="Arial" panose="020B0604020202020204" pitchFamily="34" charset="0"/>
                <a:ea typeface="Aptos"/>
                <a:cs typeface="Arial" panose="020B0604020202020204" pitchFamily="34" charset="0"/>
              </a:rPr>
              <a:t>habitualmente</a:t>
            </a:r>
            <a:r>
              <a:rPr lang="en-US" sz="1400" dirty="0">
                <a:solidFill>
                  <a:schemeClr val="accent1">
                    <a:lumMod val="50000"/>
                  </a:schemeClr>
                </a:solidFill>
                <a:latin typeface="Arial" panose="020B0604020202020204" pitchFamily="34" charset="0"/>
                <a:ea typeface="Aptos"/>
                <a:cs typeface="Arial" panose="020B0604020202020204" pitchFamily="34" charset="0"/>
              </a:rPr>
              <a:t> </a:t>
            </a:r>
            <a:r>
              <a:rPr lang="en-US" sz="1400" dirty="0" err="1">
                <a:solidFill>
                  <a:schemeClr val="accent1">
                    <a:lumMod val="50000"/>
                  </a:schemeClr>
                </a:solidFill>
                <a:latin typeface="Arial" panose="020B0604020202020204" pitchFamily="34" charset="0"/>
                <a:ea typeface="Aptos"/>
                <a:cs typeface="Arial" panose="020B0604020202020204" pitchFamily="34" charset="0"/>
              </a:rPr>
              <a:t>etiquetados</a:t>
            </a:r>
            <a:r>
              <a:rPr lang="en-US" sz="1400" dirty="0">
                <a:solidFill>
                  <a:schemeClr val="accent1">
                    <a:lumMod val="50000"/>
                  </a:schemeClr>
                </a:solidFill>
                <a:latin typeface="Arial" panose="020B0604020202020204" pitchFamily="34" charset="0"/>
                <a:ea typeface="Aptos"/>
                <a:cs typeface="Arial" panose="020B0604020202020204" pitchFamily="34" charset="0"/>
              </a:rPr>
              <a:t>.</a:t>
            </a:r>
            <a:endParaRPr lang="en-US" sz="1400" dirty="0">
              <a:solidFill>
                <a:schemeClr val="accent1">
                  <a:lumMod val="50000"/>
                </a:schemeClr>
              </a:solidFill>
              <a:latin typeface="Arial" panose="020B0604020202020204" pitchFamily="34" charset="0"/>
              <a:ea typeface="Aptos"/>
              <a:cs typeface="Arial" panose="020B0604020202020204" pitchFamily="34" charset="0"/>
            </a:endParaRPr>
          </a:p>
        </p:txBody>
      </p:sp>
      <p:sp>
        <p:nvSpPr>
          <p:cNvPr id="29" name="Shape 27"/>
          <p:cNvSpPr/>
          <p:nvPr/>
        </p:nvSpPr>
        <p:spPr>
          <a:xfrm>
            <a:off x="8915400" y="4325112"/>
            <a:ext cx="2651760" cy="795528"/>
          </a:xfrm>
          <a:prstGeom prst="roundRect">
            <a:avLst>
              <a:gd name="adj" fmla="val 17241"/>
            </a:avLst>
          </a:prstGeom>
          <a:solidFill>
            <a:srgbClr val="EAF0F7"/>
          </a:solidFill>
          <a:ln w="3810">
            <a:solidFill>
              <a:srgbClr val="EAF0F7"/>
            </a:solidFill>
            <a:prstDash val="solid"/>
          </a:ln>
        </p:spPr>
      </p:sp>
      <p:sp>
        <p:nvSpPr>
          <p:cNvPr id="30" name="Text 28"/>
          <p:cNvSpPr/>
          <p:nvPr/>
        </p:nvSpPr>
        <p:spPr>
          <a:xfrm>
            <a:off x="9043416" y="4416552"/>
            <a:ext cx="2395728" cy="585216"/>
          </a:xfrm>
          <a:prstGeom prst="rect">
            <a:avLst/>
          </a:prstGeom>
          <a:noFill/>
          <a:ln/>
        </p:spPr>
        <p:txBody>
          <a:bodyPr wrap="square" lIns="0" tIns="0" rIns="0" bIns="0" rtlCol="0" anchor="ctr">
            <a:normAutofit/>
          </a:bodyPr>
          <a:lstStyle/>
          <a:p>
            <a:r>
              <a:rPr lang="en-US" sz="1200" dirty="0">
                <a:solidFill>
                  <a:schemeClr val="accent1">
                    <a:lumMod val="75000"/>
                  </a:schemeClr>
                </a:solidFill>
                <a:latin typeface="Aptos"/>
                <a:ea typeface="Aptos"/>
                <a:cs typeface="Aptos" pitchFamily="34" charset="-120"/>
              </a:rPr>
              <a:t>No aplica: </a:t>
            </a:r>
            <a:r>
              <a:rPr lang="es-ES" sz="1200" dirty="0" smtClean="0">
                <a:solidFill>
                  <a:schemeClr val="accent1">
                    <a:lumMod val="75000"/>
                  </a:schemeClr>
                </a:solidFill>
                <a:latin typeface="Aptos"/>
                <a:ea typeface="Aptos"/>
              </a:rPr>
              <a:t>requiere </a:t>
            </a:r>
            <a:r>
              <a:rPr lang="es-ES" sz="1200" dirty="0">
                <a:solidFill>
                  <a:schemeClr val="accent1">
                    <a:lumMod val="75000"/>
                  </a:schemeClr>
                </a:solidFill>
                <a:latin typeface="Aptos"/>
                <a:ea typeface="Aptos"/>
              </a:rPr>
              <a:t>entrenamiento supervisado para clasificación.</a:t>
            </a:r>
            <a:endParaRPr lang="en-US" sz="1200" dirty="0">
              <a:solidFill>
                <a:schemeClr val="accent1">
                  <a:lumMod val="75000"/>
                </a:schemeClr>
              </a:solidFill>
              <a:latin typeface="Aptos"/>
              <a:ea typeface="Aptos"/>
            </a:endParaRPr>
          </a:p>
        </p:txBody>
      </p:sp>
      <p:sp>
        <p:nvSpPr>
          <p:cNvPr id="31" name="Text 29"/>
          <p:cNvSpPr/>
          <p:nvPr/>
        </p:nvSpPr>
        <p:spPr>
          <a:xfrm>
            <a:off x="731520" y="5715000"/>
            <a:ext cx="10789920" cy="457200"/>
          </a:xfrm>
          <a:prstGeom prst="rect">
            <a:avLst/>
          </a:prstGeom>
          <a:noFill/>
          <a:ln/>
        </p:spPr>
        <p:txBody>
          <a:bodyPr wrap="square" lIns="0" tIns="0" rIns="0" bIns="0" rtlCol="0" anchor="ctr">
            <a:normAutofit/>
          </a:bodyPr>
          <a:lstStyle/>
          <a:p>
            <a:r>
              <a:rPr lang="en-US" sz="1700" b="1" dirty="0" err="1" smtClean="0">
                <a:solidFill>
                  <a:schemeClr val="accent1">
                    <a:lumMod val="50000"/>
                  </a:schemeClr>
                </a:solidFill>
                <a:latin typeface="Aptos" pitchFamily="34" charset="0"/>
                <a:ea typeface="Aptos"/>
                <a:cs typeface="Aptos" pitchFamily="34" charset="-120"/>
              </a:rPr>
              <a:t>Ventaja</a:t>
            </a:r>
            <a:r>
              <a:rPr lang="en-US" sz="1700" b="1" dirty="0" smtClean="0">
                <a:solidFill>
                  <a:schemeClr val="accent1">
                    <a:lumMod val="50000"/>
                  </a:schemeClr>
                </a:solidFill>
                <a:latin typeface="Aptos" pitchFamily="34" charset="0"/>
                <a:ea typeface="Aptos"/>
                <a:cs typeface="Aptos" pitchFamily="34" charset="-120"/>
              </a:rPr>
              <a:t> ART</a:t>
            </a:r>
            <a:r>
              <a:rPr lang="en-US" sz="1700" b="1" dirty="0">
                <a:solidFill>
                  <a:schemeClr val="accent1">
                    <a:lumMod val="50000"/>
                  </a:schemeClr>
                </a:solidFill>
                <a:latin typeface="Aptos" pitchFamily="34" charset="0"/>
                <a:ea typeface="Aptos"/>
                <a:cs typeface="Aptos" pitchFamily="34" charset="-120"/>
              </a:rPr>
              <a:t>: </a:t>
            </a:r>
            <a:r>
              <a:rPr lang="es-ES" b="1" dirty="0">
                <a:solidFill>
                  <a:schemeClr val="accent1">
                    <a:lumMod val="50000"/>
                  </a:schemeClr>
                </a:solidFill>
                <a:ea typeface="Aptos"/>
              </a:rPr>
              <a:t>capacidad de formar categorías adaptativas sin fijar inicialmente cuántas </a:t>
            </a:r>
            <a:r>
              <a:rPr lang="es-ES" b="1" dirty="0" smtClean="0">
                <a:solidFill>
                  <a:schemeClr val="accent1">
                    <a:lumMod val="50000"/>
                  </a:schemeClr>
                </a:solidFill>
                <a:ea typeface="Aptos"/>
              </a:rPr>
              <a:t>habrá</a:t>
            </a:r>
            <a:r>
              <a:rPr lang="en-US" b="1" dirty="0" smtClean="0">
                <a:solidFill>
                  <a:schemeClr val="accent1">
                    <a:lumMod val="50000"/>
                  </a:schemeClr>
                </a:solidFill>
                <a:latin typeface="Aptos" pitchFamily="34" charset="0"/>
                <a:ea typeface="Aptos"/>
                <a:cs typeface="Aptos" pitchFamily="34" charset="-120"/>
              </a:rPr>
              <a:t>.</a:t>
            </a:r>
            <a:endParaRPr lang="en-US" dirty="0">
              <a:solidFill>
                <a:schemeClr val="accent1">
                  <a:lumMod val="50000"/>
                </a:schemeClr>
              </a:solidFill>
              <a:ea typeface="Apto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oundRect">
            <a:avLst/>
          </a:prstGeom>
          <a:solidFill>
            <a:srgbClr val="00A5A8"/>
          </a:solidFill>
          <a:ln w="3810">
            <a:solidFill>
              <a:srgbClr val="00A5A8"/>
            </a:solidFill>
            <a:prstDash val="solid"/>
          </a:ln>
        </p:spPr>
      </p:sp>
      <p:sp>
        <p:nvSpPr>
          <p:cNvPr id="3" name="Text 1"/>
          <p:cNvSpPr/>
          <p:nvPr/>
        </p:nvSpPr>
        <p:spPr>
          <a:xfrm>
            <a:off x="594360" y="320040"/>
            <a:ext cx="10058400" cy="274320"/>
          </a:xfrm>
          <a:prstGeom prst="rect">
            <a:avLst/>
          </a:prstGeom>
          <a:noFill/>
          <a:ln/>
        </p:spPr>
        <p:txBody>
          <a:bodyPr wrap="square" lIns="0" tIns="0" rIns="0" bIns="0" rtlCol="0" anchor="ctr">
            <a:normAutofit/>
          </a:bodyPr>
          <a:lstStyle/>
          <a:p>
            <a:pPr marL="0" indent="0">
              <a:buNone/>
            </a:pPr>
            <a:r>
              <a:rPr lang="en-US" sz="1100" b="1" kern="0" spc="200" dirty="0" smtClean="0">
                <a:solidFill>
                  <a:srgbClr val="00A5A8"/>
                </a:solidFill>
                <a:latin typeface="Aptos" pitchFamily="34" charset="0"/>
                <a:ea typeface="Aptos" pitchFamily="34" charset="-122"/>
                <a:cs typeface="Aptos" pitchFamily="34" charset="-120"/>
              </a:rPr>
              <a:t>CARACTERISTICAS – FORTALEZAS - DEBILIDADES</a:t>
            </a:r>
            <a:endParaRPr lang="en-US" sz="1100" dirty="0"/>
          </a:p>
        </p:txBody>
      </p:sp>
      <p:sp>
        <p:nvSpPr>
          <p:cNvPr id="4" name="Text 2"/>
          <p:cNvSpPr/>
          <p:nvPr/>
        </p:nvSpPr>
        <p:spPr>
          <a:xfrm>
            <a:off x="594360" y="731520"/>
            <a:ext cx="10972800" cy="658368"/>
          </a:xfrm>
          <a:prstGeom prst="rect">
            <a:avLst/>
          </a:prstGeom>
          <a:noFill/>
          <a:ln/>
        </p:spPr>
        <p:txBody>
          <a:bodyPr wrap="square" lIns="0" tIns="0" rIns="0" bIns="0" rtlCol="0" anchor="ctr">
            <a:normAutofit/>
          </a:bodyPr>
          <a:lstStyle/>
          <a:p>
            <a:pPr marL="0" indent="0">
              <a:buNone/>
            </a:pPr>
            <a:r>
              <a:rPr lang="en-US" sz="2900" b="1" dirty="0" err="1" smtClean="0">
                <a:solidFill>
                  <a:srgbClr val="12223C"/>
                </a:solidFill>
                <a:latin typeface="Aptos" pitchFamily="34" charset="0"/>
                <a:ea typeface="Aptos" pitchFamily="34" charset="-122"/>
                <a:cs typeface="Aptos" pitchFamily="34" charset="-120"/>
              </a:rPr>
              <a:t>Características</a:t>
            </a:r>
            <a:r>
              <a:rPr lang="en-US" sz="2900" b="1" dirty="0" smtClean="0">
                <a:solidFill>
                  <a:srgbClr val="12223C"/>
                </a:solidFill>
                <a:latin typeface="Aptos" pitchFamily="34" charset="0"/>
                <a:ea typeface="Aptos" pitchFamily="34" charset="-122"/>
                <a:cs typeface="Aptos" pitchFamily="34" charset="-120"/>
              </a:rPr>
              <a:t> ART</a:t>
            </a:r>
            <a:endParaRPr lang="en-US" sz="2900" dirty="0"/>
          </a:p>
        </p:txBody>
      </p:sp>
      <p:sp>
        <p:nvSpPr>
          <p:cNvPr id="5" name="Text 3"/>
          <p:cNvSpPr/>
          <p:nvPr/>
        </p:nvSpPr>
        <p:spPr>
          <a:xfrm>
            <a:off x="594360" y="6510528"/>
            <a:ext cx="8229600" cy="201168"/>
          </a:xfrm>
          <a:prstGeom prst="rect">
            <a:avLst/>
          </a:prstGeom>
          <a:noFill/>
          <a:ln/>
        </p:spPr>
        <p:txBody>
          <a:bodyPr wrap="square" lIns="0" tIns="0" rIns="0" bIns="0" rtlCol="0" anchor="ctr">
            <a:normAutofit/>
          </a:bodyPr>
          <a:lstStyle/>
          <a:p>
            <a:pPr marL="0" indent="0">
              <a:buNone/>
            </a:pPr>
            <a:r>
              <a:rPr lang="en-US" sz="1000" dirty="0">
                <a:solidFill>
                  <a:srgbClr val="607189"/>
                </a:solidFill>
                <a:latin typeface="Aptos" pitchFamily="34" charset="0"/>
                <a:ea typeface="Aptos" pitchFamily="34" charset="-122"/>
                <a:cs typeface="Aptos" pitchFamily="34" charset="-120"/>
              </a:rPr>
              <a:t>TFI · Inteligencia Artificial · UADER</a:t>
            </a:r>
            <a:endParaRPr lang="en-US" sz="1000" dirty="0"/>
          </a:p>
        </p:txBody>
      </p:sp>
      <p:sp>
        <p:nvSpPr>
          <p:cNvPr id="6" name="Text 4"/>
          <p:cNvSpPr/>
          <p:nvPr/>
        </p:nvSpPr>
        <p:spPr>
          <a:xfrm>
            <a:off x="11082528" y="6483096"/>
            <a:ext cx="502920" cy="228600"/>
          </a:xfrm>
          <a:prstGeom prst="rect">
            <a:avLst/>
          </a:prstGeom>
          <a:noFill/>
          <a:ln/>
        </p:spPr>
        <p:txBody>
          <a:bodyPr wrap="square" lIns="0" tIns="0" rIns="0" bIns="0" rtlCol="0" anchor="ctr">
            <a:normAutofit/>
          </a:bodyPr>
          <a:lstStyle/>
          <a:p>
            <a:pPr marL="0" indent="0" algn="r">
              <a:buNone/>
            </a:pPr>
            <a:r>
              <a:rPr lang="en-US" sz="1000" dirty="0">
                <a:solidFill>
                  <a:srgbClr val="607189"/>
                </a:solidFill>
                <a:latin typeface="Aptos" pitchFamily="34" charset="0"/>
                <a:ea typeface="Aptos" pitchFamily="34" charset="-122"/>
                <a:cs typeface="Aptos" pitchFamily="34" charset="-120"/>
              </a:rPr>
              <a:t>02</a:t>
            </a:r>
            <a:endParaRPr lang="en-US" sz="1000" dirty="0"/>
          </a:p>
        </p:txBody>
      </p:sp>
      <p:sp>
        <p:nvSpPr>
          <p:cNvPr id="7" name="Shape 5"/>
          <p:cNvSpPr/>
          <p:nvPr/>
        </p:nvSpPr>
        <p:spPr>
          <a:xfrm>
            <a:off x="676655" y="2869622"/>
            <a:ext cx="3913631" cy="2845378"/>
          </a:xfrm>
          <a:prstGeom prst="roundRect">
            <a:avLst>
              <a:gd name="adj" fmla="val 4054"/>
            </a:avLst>
          </a:prstGeom>
          <a:solidFill>
            <a:srgbClr val="FFFFFF"/>
          </a:solidFill>
          <a:ln w="3810">
            <a:solidFill>
              <a:srgbClr val="FFFFFF"/>
            </a:solidFill>
            <a:prstDash val="solid"/>
          </a:ln>
        </p:spPr>
      </p:sp>
      <p:sp>
        <p:nvSpPr>
          <p:cNvPr id="8" name="Shape 6"/>
          <p:cNvSpPr/>
          <p:nvPr/>
        </p:nvSpPr>
        <p:spPr>
          <a:xfrm>
            <a:off x="676655" y="2869622"/>
            <a:ext cx="61955" cy="2845378"/>
          </a:xfrm>
          <a:prstGeom prst="roundRect">
            <a:avLst/>
          </a:prstGeom>
          <a:solidFill>
            <a:srgbClr val="315E9B"/>
          </a:solidFill>
          <a:ln w="3810">
            <a:solidFill>
              <a:srgbClr val="315E9B"/>
            </a:solidFill>
            <a:prstDash val="solid"/>
          </a:ln>
        </p:spPr>
      </p:sp>
      <p:sp>
        <p:nvSpPr>
          <p:cNvPr id="11" name="Shape 9"/>
          <p:cNvSpPr/>
          <p:nvPr/>
        </p:nvSpPr>
        <p:spPr>
          <a:xfrm>
            <a:off x="7041115" y="3596147"/>
            <a:ext cx="3163824" cy="1877204"/>
          </a:xfrm>
          <a:prstGeom prst="roundRect">
            <a:avLst>
              <a:gd name="adj" fmla="val 4054"/>
            </a:avLst>
          </a:prstGeom>
          <a:solidFill>
            <a:srgbClr val="FFFFFF"/>
          </a:solidFill>
          <a:ln w="3810">
            <a:solidFill>
              <a:srgbClr val="FFFFFF"/>
            </a:solidFill>
            <a:prstDash val="solid"/>
          </a:ln>
        </p:spPr>
      </p:sp>
      <p:sp>
        <p:nvSpPr>
          <p:cNvPr id="12" name="Shape 10"/>
          <p:cNvSpPr/>
          <p:nvPr/>
        </p:nvSpPr>
        <p:spPr>
          <a:xfrm>
            <a:off x="6017689" y="2924792"/>
            <a:ext cx="61955" cy="2713457"/>
          </a:xfrm>
          <a:prstGeom prst="roundRect">
            <a:avLst/>
          </a:prstGeom>
          <a:solidFill>
            <a:srgbClr val="315E9B"/>
          </a:solidFill>
          <a:ln w="3810">
            <a:solidFill>
              <a:srgbClr val="315E9B"/>
            </a:solidFill>
            <a:prstDash val="solid"/>
          </a:ln>
        </p:spPr>
      </p:sp>
      <p:sp>
        <p:nvSpPr>
          <p:cNvPr id="21" name="Shape 5"/>
          <p:cNvSpPr/>
          <p:nvPr/>
        </p:nvSpPr>
        <p:spPr>
          <a:xfrm>
            <a:off x="585216" y="1689400"/>
            <a:ext cx="2286000" cy="658368"/>
          </a:xfrm>
          <a:prstGeom prst="roundRect">
            <a:avLst>
              <a:gd name="adj" fmla="val 20833"/>
            </a:avLst>
          </a:prstGeom>
          <a:solidFill>
            <a:schemeClr val="accent1">
              <a:lumMod val="75000"/>
            </a:schemeClr>
          </a:solidFill>
          <a:ln w="3810">
            <a:solidFill>
              <a:srgbClr val="12223C"/>
            </a:solidFill>
            <a:prstDash val="solid"/>
          </a:ln>
        </p:spPr>
      </p:sp>
      <p:sp>
        <p:nvSpPr>
          <p:cNvPr id="22" name="Text 6"/>
          <p:cNvSpPr/>
          <p:nvPr/>
        </p:nvSpPr>
        <p:spPr>
          <a:xfrm>
            <a:off x="676656" y="1780840"/>
            <a:ext cx="2103120" cy="457200"/>
          </a:xfrm>
          <a:prstGeom prst="rect">
            <a:avLst/>
          </a:prstGeom>
          <a:solidFill>
            <a:schemeClr val="accent1">
              <a:lumMod val="75000"/>
            </a:schemeClr>
          </a:solidFill>
          <a:ln/>
        </p:spPr>
        <p:txBody>
          <a:bodyPr wrap="square" lIns="0" tIns="0" rIns="0" bIns="0" rtlCol="0" anchor="ctr">
            <a:normAutofit lnSpcReduction="10000"/>
          </a:bodyPr>
          <a:lstStyle/>
          <a:p>
            <a:pPr algn="ctr"/>
            <a:r>
              <a:rPr lang="en-US" sz="1600" b="1" dirty="0" err="1" smtClean="0">
                <a:solidFill>
                  <a:schemeClr val="bg1"/>
                </a:solidFill>
                <a:ea typeface="Aptos"/>
              </a:rPr>
              <a:t>Aprendizaje</a:t>
            </a:r>
            <a:r>
              <a:rPr lang="en-US" sz="1600" b="1" dirty="0" smtClean="0">
                <a:solidFill>
                  <a:schemeClr val="bg1"/>
                </a:solidFill>
                <a:ea typeface="Aptos"/>
              </a:rPr>
              <a:t> </a:t>
            </a:r>
            <a:r>
              <a:rPr lang="en-US" sz="1600" b="1" dirty="0">
                <a:solidFill>
                  <a:schemeClr val="bg1"/>
                </a:solidFill>
                <a:ea typeface="Aptos"/>
              </a:rPr>
              <a:t>no </a:t>
            </a:r>
            <a:r>
              <a:rPr lang="en-US" sz="1600" b="1" dirty="0" err="1">
                <a:solidFill>
                  <a:schemeClr val="bg1"/>
                </a:solidFill>
                <a:ea typeface="Aptos"/>
              </a:rPr>
              <a:t>supervisado</a:t>
            </a:r>
            <a:endParaRPr lang="en-US" sz="1600" b="1" dirty="0">
              <a:solidFill>
                <a:schemeClr val="bg1"/>
              </a:solidFill>
              <a:ea typeface="Aptos"/>
            </a:endParaRPr>
          </a:p>
        </p:txBody>
      </p:sp>
      <p:sp>
        <p:nvSpPr>
          <p:cNvPr id="23" name="Shape 7"/>
          <p:cNvSpPr/>
          <p:nvPr/>
        </p:nvSpPr>
        <p:spPr>
          <a:xfrm>
            <a:off x="3044952" y="1689400"/>
            <a:ext cx="2084832" cy="658368"/>
          </a:xfrm>
          <a:prstGeom prst="roundRect">
            <a:avLst>
              <a:gd name="adj" fmla="val 20833"/>
            </a:avLst>
          </a:prstGeom>
          <a:solidFill>
            <a:schemeClr val="accent1">
              <a:lumMod val="75000"/>
            </a:schemeClr>
          </a:solidFill>
          <a:ln w="3810">
            <a:solidFill>
              <a:srgbClr val="12223C"/>
            </a:solidFill>
            <a:prstDash val="solid"/>
          </a:ln>
        </p:spPr>
      </p:sp>
      <p:sp>
        <p:nvSpPr>
          <p:cNvPr id="24" name="Text 8"/>
          <p:cNvSpPr/>
          <p:nvPr/>
        </p:nvSpPr>
        <p:spPr>
          <a:xfrm>
            <a:off x="3136392" y="1780840"/>
            <a:ext cx="1901952" cy="457200"/>
          </a:xfrm>
          <a:prstGeom prst="rect">
            <a:avLst/>
          </a:prstGeom>
          <a:solidFill>
            <a:schemeClr val="accent1">
              <a:lumMod val="75000"/>
            </a:schemeClr>
          </a:solidFill>
          <a:ln/>
        </p:spPr>
        <p:txBody>
          <a:bodyPr wrap="square" lIns="0" tIns="0" rIns="0" bIns="0" rtlCol="0" anchor="ctr">
            <a:normAutofit lnSpcReduction="10000"/>
          </a:bodyPr>
          <a:lstStyle/>
          <a:p>
            <a:pPr algn="ctr"/>
            <a:r>
              <a:rPr lang="en-US" sz="1600" b="1" dirty="0" err="1" smtClean="0">
                <a:solidFill>
                  <a:schemeClr val="bg1"/>
                </a:solidFill>
                <a:ea typeface="Aptos"/>
              </a:rPr>
              <a:t>Formación</a:t>
            </a:r>
            <a:r>
              <a:rPr lang="en-US" sz="1600" b="1" dirty="0" smtClean="0">
                <a:solidFill>
                  <a:schemeClr val="bg1"/>
                </a:solidFill>
                <a:ea typeface="Aptos"/>
              </a:rPr>
              <a:t> </a:t>
            </a:r>
            <a:r>
              <a:rPr lang="en-US" sz="1600" b="1" dirty="0" err="1">
                <a:solidFill>
                  <a:schemeClr val="bg1"/>
                </a:solidFill>
                <a:ea typeface="Aptos"/>
              </a:rPr>
              <a:t>adaptativa</a:t>
            </a:r>
            <a:r>
              <a:rPr lang="en-US" sz="1600" b="1" dirty="0">
                <a:solidFill>
                  <a:schemeClr val="bg1"/>
                </a:solidFill>
                <a:ea typeface="Aptos"/>
              </a:rPr>
              <a:t> de </a:t>
            </a:r>
            <a:r>
              <a:rPr lang="en-US" sz="1600" b="1" dirty="0" err="1">
                <a:solidFill>
                  <a:schemeClr val="bg1"/>
                </a:solidFill>
                <a:ea typeface="Aptos"/>
              </a:rPr>
              <a:t>categorías</a:t>
            </a:r>
            <a:endParaRPr lang="en-US" sz="1600" b="1" dirty="0">
              <a:solidFill>
                <a:schemeClr val="bg1"/>
              </a:solidFill>
              <a:ea typeface="Aptos"/>
            </a:endParaRPr>
          </a:p>
        </p:txBody>
      </p:sp>
      <p:sp>
        <p:nvSpPr>
          <p:cNvPr id="25" name="Shape 9"/>
          <p:cNvSpPr/>
          <p:nvPr/>
        </p:nvSpPr>
        <p:spPr>
          <a:xfrm>
            <a:off x="5303520" y="1689400"/>
            <a:ext cx="2084832" cy="658368"/>
          </a:xfrm>
          <a:prstGeom prst="roundRect">
            <a:avLst>
              <a:gd name="adj" fmla="val 20833"/>
            </a:avLst>
          </a:prstGeom>
          <a:solidFill>
            <a:schemeClr val="accent1">
              <a:lumMod val="75000"/>
            </a:schemeClr>
          </a:solidFill>
          <a:ln w="3810">
            <a:solidFill>
              <a:srgbClr val="12223C"/>
            </a:solidFill>
            <a:prstDash val="solid"/>
          </a:ln>
        </p:spPr>
      </p:sp>
      <p:sp>
        <p:nvSpPr>
          <p:cNvPr id="26" name="Text 10"/>
          <p:cNvSpPr/>
          <p:nvPr/>
        </p:nvSpPr>
        <p:spPr>
          <a:xfrm>
            <a:off x="5394960" y="1780840"/>
            <a:ext cx="1901952" cy="457200"/>
          </a:xfrm>
          <a:prstGeom prst="rect">
            <a:avLst/>
          </a:prstGeom>
          <a:solidFill>
            <a:schemeClr val="accent1">
              <a:lumMod val="75000"/>
            </a:schemeClr>
          </a:solidFill>
          <a:ln/>
        </p:spPr>
        <p:txBody>
          <a:bodyPr wrap="square" lIns="0" tIns="0" rIns="0" bIns="0" rtlCol="0" anchor="ctr">
            <a:noAutofit/>
          </a:bodyPr>
          <a:lstStyle/>
          <a:p>
            <a:pPr algn="ctr"/>
            <a:r>
              <a:rPr lang="en-US" sz="1600" b="1" dirty="0" err="1" smtClean="0">
                <a:solidFill>
                  <a:schemeClr val="bg1"/>
                </a:solidFill>
                <a:ea typeface="Aptos"/>
              </a:rPr>
              <a:t>Procesamiento</a:t>
            </a:r>
            <a:r>
              <a:rPr lang="en-US" sz="1600" b="1" dirty="0" smtClean="0">
                <a:solidFill>
                  <a:schemeClr val="bg1"/>
                </a:solidFill>
                <a:ea typeface="Aptos"/>
              </a:rPr>
              <a:t> </a:t>
            </a:r>
            <a:r>
              <a:rPr lang="en-US" sz="1600" b="1" dirty="0">
                <a:solidFill>
                  <a:schemeClr val="bg1"/>
                </a:solidFill>
                <a:ea typeface="Aptos"/>
              </a:rPr>
              <a:t>incremental</a:t>
            </a:r>
            <a:endParaRPr lang="en-US" sz="1600" b="1" dirty="0">
              <a:solidFill>
                <a:schemeClr val="bg1"/>
              </a:solidFill>
              <a:ea typeface="Aptos"/>
            </a:endParaRPr>
          </a:p>
        </p:txBody>
      </p:sp>
      <p:sp>
        <p:nvSpPr>
          <p:cNvPr id="27" name="Shape 11"/>
          <p:cNvSpPr/>
          <p:nvPr/>
        </p:nvSpPr>
        <p:spPr>
          <a:xfrm>
            <a:off x="7543800" y="1689400"/>
            <a:ext cx="2084832" cy="658368"/>
          </a:xfrm>
          <a:prstGeom prst="roundRect">
            <a:avLst>
              <a:gd name="adj" fmla="val 20833"/>
            </a:avLst>
          </a:prstGeom>
          <a:solidFill>
            <a:schemeClr val="accent1">
              <a:lumMod val="75000"/>
            </a:schemeClr>
          </a:solidFill>
          <a:ln w="3810">
            <a:solidFill>
              <a:srgbClr val="12223C"/>
            </a:solidFill>
            <a:prstDash val="solid"/>
          </a:ln>
        </p:spPr>
      </p:sp>
      <p:sp>
        <p:nvSpPr>
          <p:cNvPr id="28" name="Text 12"/>
          <p:cNvSpPr/>
          <p:nvPr/>
        </p:nvSpPr>
        <p:spPr>
          <a:xfrm>
            <a:off x="7635240" y="1780840"/>
            <a:ext cx="1901952" cy="457200"/>
          </a:xfrm>
          <a:prstGeom prst="rect">
            <a:avLst/>
          </a:prstGeom>
          <a:solidFill>
            <a:schemeClr val="accent1">
              <a:lumMod val="75000"/>
            </a:schemeClr>
          </a:solidFill>
          <a:ln/>
        </p:spPr>
        <p:txBody>
          <a:bodyPr wrap="square" lIns="0" tIns="0" rIns="0" bIns="0" rtlCol="0" anchor="ctr">
            <a:normAutofit lnSpcReduction="10000"/>
          </a:bodyPr>
          <a:lstStyle/>
          <a:p>
            <a:pPr algn="ctr"/>
            <a:r>
              <a:rPr lang="en-US" sz="1600" b="1" dirty="0" err="1" smtClean="0">
                <a:solidFill>
                  <a:schemeClr val="bg1"/>
                </a:solidFill>
                <a:ea typeface="Aptos"/>
              </a:rPr>
              <a:t>Parámetro</a:t>
            </a:r>
            <a:r>
              <a:rPr lang="en-US" sz="1600" b="1" dirty="0" smtClean="0">
                <a:solidFill>
                  <a:schemeClr val="bg1"/>
                </a:solidFill>
                <a:ea typeface="Aptos"/>
              </a:rPr>
              <a:t> </a:t>
            </a:r>
            <a:r>
              <a:rPr lang="en-US" sz="1600" b="1" dirty="0">
                <a:solidFill>
                  <a:schemeClr val="bg1"/>
                </a:solidFill>
                <a:ea typeface="Aptos"/>
              </a:rPr>
              <a:t>de </a:t>
            </a:r>
            <a:r>
              <a:rPr lang="en-US" sz="1600" b="1" dirty="0" err="1">
                <a:solidFill>
                  <a:schemeClr val="bg1"/>
                </a:solidFill>
                <a:ea typeface="Aptos"/>
              </a:rPr>
              <a:t>vigilancia</a:t>
            </a:r>
            <a:endParaRPr lang="en-US" sz="1600" b="1" dirty="0">
              <a:solidFill>
                <a:schemeClr val="bg1"/>
              </a:solidFill>
              <a:ea typeface="Aptos"/>
            </a:endParaRPr>
          </a:p>
        </p:txBody>
      </p:sp>
      <p:sp>
        <p:nvSpPr>
          <p:cNvPr id="29" name="Shape 13"/>
          <p:cNvSpPr/>
          <p:nvPr/>
        </p:nvSpPr>
        <p:spPr>
          <a:xfrm>
            <a:off x="9784080" y="1689400"/>
            <a:ext cx="1801368" cy="658368"/>
          </a:xfrm>
          <a:prstGeom prst="roundRect">
            <a:avLst>
              <a:gd name="adj" fmla="val 20833"/>
            </a:avLst>
          </a:prstGeom>
          <a:solidFill>
            <a:schemeClr val="accent1">
              <a:lumMod val="75000"/>
            </a:schemeClr>
          </a:solidFill>
          <a:ln w="3810">
            <a:solidFill>
              <a:srgbClr val="12223C"/>
            </a:solidFill>
            <a:prstDash val="solid"/>
          </a:ln>
        </p:spPr>
      </p:sp>
      <p:sp>
        <p:nvSpPr>
          <p:cNvPr id="30" name="Text 14"/>
          <p:cNvSpPr/>
          <p:nvPr/>
        </p:nvSpPr>
        <p:spPr>
          <a:xfrm>
            <a:off x="9875520" y="1780840"/>
            <a:ext cx="1691640" cy="457200"/>
          </a:xfrm>
          <a:prstGeom prst="rect">
            <a:avLst/>
          </a:prstGeom>
          <a:solidFill>
            <a:schemeClr val="accent1">
              <a:lumMod val="75000"/>
            </a:schemeClr>
          </a:solidFill>
          <a:ln/>
        </p:spPr>
        <p:txBody>
          <a:bodyPr wrap="square" lIns="0" tIns="0" rIns="0" bIns="0" rtlCol="0" anchor="ctr">
            <a:noAutofit/>
          </a:bodyPr>
          <a:lstStyle/>
          <a:p>
            <a:pPr marL="0" indent="0" algn="ctr">
              <a:buNone/>
            </a:pPr>
            <a:r>
              <a:rPr lang="en-US" sz="1600" b="1" dirty="0" err="1" smtClean="0">
                <a:solidFill>
                  <a:srgbClr val="FFFFFF"/>
                </a:solidFill>
                <a:latin typeface="+mj-lt"/>
                <a:ea typeface="Aptos" pitchFamily="34" charset="-122"/>
                <a:cs typeface="Aptos" pitchFamily="34" charset="-120"/>
              </a:rPr>
              <a:t>Competencia</a:t>
            </a:r>
            <a:r>
              <a:rPr lang="en-US" sz="1600" b="1" dirty="0" smtClean="0">
                <a:solidFill>
                  <a:srgbClr val="FFFFFF"/>
                </a:solidFill>
                <a:latin typeface="+mj-lt"/>
                <a:ea typeface="Aptos" pitchFamily="34" charset="-122"/>
                <a:cs typeface="Aptos" pitchFamily="34" charset="-120"/>
              </a:rPr>
              <a:t> entre </a:t>
            </a:r>
            <a:r>
              <a:rPr lang="en-US" sz="1600" b="1" dirty="0" err="1" smtClean="0">
                <a:solidFill>
                  <a:srgbClr val="FFFFFF"/>
                </a:solidFill>
                <a:latin typeface="+mj-lt"/>
                <a:ea typeface="Aptos" pitchFamily="34" charset="-122"/>
                <a:cs typeface="Aptos" pitchFamily="34" charset="-120"/>
              </a:rPr>
              <a:t>categorías</a:t>
            </a:r>
            <a:endParaRPr lang="en-US" sz="1600" dirty="0">
              <a:latin typeface="+mj-lt"/>
            </a:endParaRPr>
          </a:p>
        </p:txBody>
      </p:sp>
      <p:graphicFrame>
        <p:nvGraphicFramePr>
          <p:cNvPr id="31" name="Tabla 30"/>
          <p:cNvGraphicFramePr>
            <a:graphicFrameLocks noGrp="1"/>
          </p:cNvGraphicFramePr>
          <p:nvPr>
            <p:extLst>
              <p:ext uri="{D42A27DB-BD31-4B8C-83A1-F6EECF244321}">
                <p14:modId xmlns:p14="http://schemas.microsoft.com/office/powerpoint/2010/main" val="2591221923"/>
              </p:ext>
            </p:extLst>
          </p:nvPr>
        </p:nvGraphicFramePr>
        <p:xfrm>
          <a:off x="838200" y="2970446"/>
          <a:ext cx="10515600" cy="2740204"/>
        </p:xfrm>
        <a:graphic>
          <a:graphicData uri="http://schemas.openxmlformats.org/drawingml/2006/table">
            <a:tbl>
              <a:tblPr/>
              <a:tblGrid>
                <a:gridCol w="5257800">
                  <a:extLst>
                    <a:ext uri="{9D8B030D-6E8A-4147-A177-3AD203B41FA5}">
                      <a16:colId xmlns:a16="http://schemas.microsoft.com/office/drawing/2014/main" val="3234075619"/>
                    </a:ext>
                  </a:extLst>
                </a:gridCol>
                <a:gridCol w="5257800">
                  <a:extLst>
                    <a:ext uri="{9D8B030D-6E8A-4147-A177-3AD203B41FA5}">
                      <a16:colId xmlns:a16="http://schemas.microsoft.com/office/drawing/2014/main" val="2352145367"/>
                    </a:ext>
                  </a:extLst>
                </a:gridCol>
              </a:tblGrid>
              <a:tr h="334852">
                <a:tc>
                  <a:txBody>
                    <a:bodyPr/>
                    <a:lstStyle/>
                    <a:p>
                      <a:r>
                        <a:rPr lang="en-US" sz="2000" b="1" dirty="0" err="1">
                          <a:solidFill>
                            <a:schemeClr val="accent1">
                              <a:lumMod val="50000"/>
                            </a:schemeClr>
                          </a:solidFill>
                        </a:rPr>
                        <a:t>Fortalezas</a:t>
                      </a:r>
                      <a:endParaRPr lang="en-US" sz="2000" b="1" dirty="0">
                        <a:solidFill>
                          <a:schemeClr val="accent1">
                            <a:lumMod val="50000"/>
                          </a:schemeClr>
                        </a:solidFill>
                      </a:endParaRPr>
                    </a:p>
                  </a:txBody>
                  <a:tcPr anchor="ctr">
                    <a:lnL>
                      <a:noFill/>
                    </a:lnL>
                    <a:lnR>
                      <a:noFill/>
                    </a:lnR>
                    <a:lnT>
                      <a:noFill/>
                    </a:lnT>
                    <a:lnB>
                      <a:noFill/>
                    </a:lnB>
                  </a:tcPr>
                </a:tc>
                <a:tc>
                  <a:txBody>
                    <a:bodyPr/>
                    <a:lstStyle/>
                    <a:p>
                      <a:r>
                        <a:rPr lang="en-US" sz="2000" b="1" dirty="0" err="1">
                          <a:solidFill>
                            <a:schemeClr val="accent1">
                              <a:lumMod val="50000"/>
                            </a:schemeClr>
                          </a:solidFill>
                        </a:rPr>
                        <a:t>Debilidades</a:t>
                      </a:r>
                      <a:endParaRPr lang="en-US" sz="2000" b="1" dirty="0">
                        <a:solidFill>
                          <a:schemeClr val="accent1">
                            <a:lumMod val="50000"/>
                          </a:schemeClr>
                        </a:solidFill>
                      </a:endParaRPr>
                    </a:p>
                  </a:txBody>
                  <a:tcPr anchor="ctr">
                    <a:lnL>
                      <a:noFill/>
                    </a:lnL>
                    <a:lnR>
                      <a:noFill/>
                    </a:lnR>
                    <a:lnT>
                      <a:noFill/>
                    </a:lnT>
                    <a:lnB>
                      <a:noFill/>
                    </a:lnB>
                  </a:tcPr>
                </a:tc>
                <a:extLst>
                  <a:ext uri="{0D108BD9-81ED-4DB2-BD59-A6C34878D82A}">
                    <a16:rowId xmlns:a16="http://schemas.microsoft.com/office/drawing/2014/main" val="4132493293"/>
                  </a:ext>
                </a:extLst>
              </a:tr>
              <a:tr h="585991">
                <a:tc>
                  <a:txBody>
                    <a:bodyPr/>
                    <a:lstStyle/>
                    <a:p>
                      <a:r>
                        <a:rPr lang="en-US" sz="1400">
                          <a:ea typeface="Aptos"/>
                        </a:rPr>
                        <a:t>Aprendizaje no supervisado: no necesita etiquetas previas para agrupar.</a:t>
                      </a:r>
                    </a:p>
                  </a:txBody>
                  <a:tcPr anchor="ctr">
                    <a:lnL>
                      <a:noFill/>
                    </a:lnL>
                    <a:lnR>
                      <a:noFill/>
                    </a:lnR>
                    <a:lnT>
                      <a:noFill/>
                    </a:lnT>
                    <a:lnB>
                      <a:noFill/>
                    </a:lnB>
                  </a:tcPr>
                </a:tc>
                <a:tc>
                  <a:txBody>
                    <a:bodyPr/>
                    <a:lstStyle/>
                    <a:p>
                      <a:r>
                        <a:rPr lang="es-ES" sz="1400" dirty="0">
                          <a:ea typeface="Aptos"/>
                        </a:rPr>
                        <a:t>Sensible a parámetros: la vigilancia influye en los resultados.</a:t>
                      </a:r>
                    </a:p>
                  </a:txBody>
                  <a:tcPr anchor="ctr">
                    <a:lnL>
                      <a:noFill/>
                    </a:lnL>
                    <a:lnR>
                      <a:noFill/>
                    </a:lnR>
                    <a:lnT>
                      <a:noFill/>
                    </a:lnT>
                    <a:lnB>
                      <a:noFill/>
                    </a:lnB>
                  </a:tcPr>
                </a:tc>
                <a:extLst>
                  <a:ext uri="{0D108BD9-81ED-4DB2-BD59-A6C34878D82A}">
                    <a16:rowId xmlns:a16="http://schemas.microsoft.com/office/drawing/2014/main" val="1140635345"/>
                  </a:ext>
                </a:extLst>
              </a:tr>
              <a:tr h="585991">
                <a:tc>
                  <a:txBody>
                    <a:bodyPr/>
                    <a:lstStyle/>
                    <a:p>
                      <a:r>
                        <a:rPr lang="es-ES" sz="1400">
                          <a:ea typeface="Aptos"/>
                        </a:rPr>
                        <a:t>Aprendizaje incremental: incorpora nuevos patrones progresivamente.</a:t>
                      </a:r>
                    </a:p>
                  </a:txBody>
                  <a:tcPr anchor="ctr">
                    <a:lnL>
                      <a:noFill/>
                    </a:lnL>
                    <a:lnR>
                      <a:noFill/>
                    </a:lnR>
                    <a:lnT>
                      <a:noFill/>
                    </a:lnT>
                    <a:lnB>
                      <a:noFill/>
                    </a:lnB>
                  </a:tcPr>
                </a:tc>
                <a:tc>
                  <a:txBody>
                    <a:bodyPr/>
                    <a:lstStyle/>
                    <a:p>
                      <a:r>
                        <a:rPr lang="es-ES" sz="1400" dirty="0">
                          <a:ea typeface="Aptos"/>
                        </a:rPr>
                        <a:t>Dependencia del orden: cambiar el orden de los datos puede modificar los </a:t>
                      </a:r>
                      <a:r>
                        <a:rPr lang="es-ES" sz="1400" dirty="0" err="1">
                          <a:ea typeface="Aptos"/>
                        </a:rPr>
                        <a:t>clusters</a:t>
                      </a:r>
                      <a:r>
                        <a:rPr lang="es-ES" sz="1400" dirty="0">
                          <a:ea typeface="Aptos"/>
                        </a:rPr>
                        <a:t>.</a:t>
                      </a:r>
                    </a:p>
                  </a:txBody>
                  <a:tcPr anchor="ctr">
                    <a:lnL>
                      <a:noFill/>
                    </a:lnL>
                    <a:lnR>
                      <a:noFill/>
                    </a:lnR>
                    <a:lnT>
                      <a:noFill/>
                    </a:lnT>
                    <a:lnB>
                      <a:noFill/>
                    </a:lnB>
                  </a:tcPr>
                </a:tc>
                <a:extLst>
                  <a:ext uri="{0D108BD9-81ED-4DB2-BD59-A6C34878D82A}">
                    <a16:rowId xmlns:a16="http://schemas.microsoft.com/office/drawing/2014/main" val="90582377"/>
                  </a:ext>
                </a:extLst>
              </a:tr>
              <a:tr h="585991">
                <a:tc>
                  <a:txBody>
                    <a:bodyPr/>
                    <a:lstStyle/>
                    <a:p>
                      <a:r>
                        <a:rPr lang="es-ES" sz="1400" dirty="0">
                          <a:ea typeface="Aptos"/>
                        </a:rPr>
                        <a:t>Categorías adaptativas: no requiere definir previamente la cantidad de grupos.</a:t>
                      </a:r>
                    </a:p>
                  </a:txBody>
                  <a:tcPr anchor="ctr">
                    <a:lnL>
                      <a:noFill/>
                    </a:lnL>
                    <a:lnR>
                      <a:noFill/>
                    </a:lnR>
                    <a:lnT>
                      <a:noFill/>
                    </a:lnT>
                    <a:lnB>
                      <a:noFill/>
                    </a:lnB>
                  </a:tcPr>
                </a:tc>
                <a:tc>
                  <a:txBody>
                    <a:bodyPr/>
                    <a:lstStyle/>
                    <a:p>
                      <a:r>
                        <a:rPr lang="es-ES" sz="1400">
                          <a:ea typeface="Aptos"/>
                        </a:rPr>
                        <a:t>Fragmentación: una vigilancia alta puede generar demasiados grupos pequeños.</a:t>
                      </a:r>
                    </a:p>
                  </a:txBody>
                  <a:tcPr anchor="ctr">
                    <a:lnL>
                      <a:noFill/>
                    </a:lnL>
                    <a:lnR>
                      <a:noFill/>
                    </a:lnR>
                    <a:lnT>
                      <a:noFill/>
                    </a:lnT>
                    <a:lnB>
                      <a:noFill/>
                    </a:lnB>
                  </a:tcPr>
                </a:tc>
                <a:extLst>
                  <a:ext uri="{0D108BD9-81ED-4DB2-BD59-A6C34878D82A}">
                    <a16:rowId xmlns:a16="http://schemas.microsoft.com/office/drawing/2014/main" val="2530644243"/>
                  </a:ext>
                </a:extLst>
              </a:tr>
              <a:tr h="585991">
                <a:tc>
                  <a:txBody>
                    <a:bodyPr/>
                    <a:lstStyle/>
                    <a:p>
                      <a:r>
                        <a:rPr lang="es-ES" sz="1400">
                          <a:ea typeface="Aptos"/>
                        </a:rPr>
                        <a:t>Estabilidad-plasticidad: busca aprender sin olvidar indiscriminadamente lo anterior.</a:t>
                      </a:r>
                    </a:p>
                  </a:txBody>
                  <a:tcPr anchor="ctr">
                    <a:lnL>
                      <a:noFill/>
                    </a:lnL>
                    <a:lnR>
                      <a:noFill/>
                    </a:lnR>
                    <a:lnT>
                      <a:noFill/>
                    </a:lnT>
                    <a:lnB>
                      <a:noFill/>
                    </a:lnB>
                  </a:tcPr>
                </a:tc>
                <a:tc>
                  <a:txBody>
                    <a:bodyPr/>
                    <a:lstStyle/>
                    <a:p>
                      <a:r>
                        <a:rPr lang="es-ES" sz="1400" dirty="0" err="1">
                          <a:ea typeface="Aptos"/>
                        </a:rPr>
                        <a:t>Preprocesamiento</a:t>
                      </a:r>
                      <a:r>
                        <a:rPr lang="es-ES" sz="1400" dirty="0">
                          <a:ea typeface="Aptos"/>
                        </a:rPr>
                        <a:t>: requiere preparar y normalizar adecuadamente los datos.</a:t>
                      </a:r>
                    </a:p>
                  </a:txBody>
                  <a:tcPr anchor="ctr">
                    <a:lnL>
                      <a:noFill/>
                    </a:lnL>
                    <a:lnR>
                      <a:noFill/>
                    </a:lnR>
                    <a:lnT>
                      <a:noFill/>
                    </a:lnT>
                    <a:lnB>
                      <a:noFill/>
                    </a:lnB>
                  </a:tcPr>
                </a:tc>
                <a:extLst>
                  <a:ext uri="{0D108BD9-81ED-4DB2-BD59-A6C34878D82A}">
                    <a16:rowId xmlns:a16="http://schemas.microsoft.com/office/drawing/2014/main" val="69009854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p:cNvSpPr/>
          <p:nvPr/>
        </p:nvSpPr>
        <p:spPr>
          <a:xfrm>
            <a:off x="0" y="0"/>
            <a:ext cx="12191695" cy="128016"/>
          </a:xfrm>
          <a:prstGeom prst="roundRect">
            <a:avLst/>
          </a:prstGeom>
          <a:solidFill>
            <a:srgbClr val="00A5A8"/>
          </a:solidFill>
          <a:ln w="3810">
            <a:solidFill>
              <a:srgbClr val="00A5A8"/>
            </a:solidFill>
            <a:prstDash val="solid"/>
          </a:ln>
        </p:spPr>
      </p:sp>
      <p:sp>
        <p:nvSpPr>
          <p:cNvPr id="4" name="Text 2"/>
          <p:cNvSpPr/>
          <p:nvPr/>
        </p:nvSpPr>
        <p:spPr>
          <a:xfrm>
            <a:off x="594360" y="354037"/>
            <a:ext cx="10972800" cy="658368"/>
          </a:xfrm>
          <a:prstGeom prst="rect">
            <a:avLst/>
          </a:prstGeom>
          <a:noFill/>
          <a:ln/>
        </p:spPr>
        <p:txBody>
          <a:bodyPr wrap="square" lIns="0" tIns="0" rIns="0" bIns="0" rtlCol="0" anchor="ctr">
            <a:normAutofit/>
          </a:bodyPr>
          <a:lstStyle/>
          <a:p>
            <a:pPr marL="0" indent="0">
              <a:buNone/>
            </a:pPr>
            <a:r>
              <a:rPr lang="en-US" sz="2900" b="1" dirty="0" err="1" smtClean="0">
                <a:solidFill>
                  <a:srgbClr val="12223C"/>
                </a:solidFill>
                <a:latin typeface="Aptos" pitchFamily="34" charset="0"/>
                <a:ea typeface="Aptos" pitchFamily="34" charset="-122"/>
                <a:cs typeface="Aptos" pitchFamily="34" charset="-120"/>
              </a:rPr>
              <a:t>Aplicaciones</a:t>
            </a:r>
            <a:r>
              <a:rPr lang="en-US" sz="2900" b="1" dirty="0" smtClean="0">
                <a:solidFill>
                  <a:srgbClr val="12223C"/>
                </a:solidFill>
                <a:latin typeface="Aptos" pitchFamily="34" charset="0"/>
                <a:ea typeface="Aptos" pitchFamily="34" charset="-122"/>
                <a:cs typeface="Aptos" pitchFamily="34" charset="-120"/>
              </a:rPr>
              <a:t> de </a:t>
            </a:r>
            <a:r>
              <a:rPr lang="en-US" sz="2900" b="1" dirty="0" err="1" smtClean="0">
                <a:solidFill>
                  <a:srgbClr val="12223C"/>
                </a:solidFill>
                <a:latin typeface="Aptos" pitchFamily="34" charset="0"/>
                <a:ea typeface="Aptos" pitchFamily="34" charset="-122"/>
                <a:cs typeface="Aptos" pitchFamily="34" charset="-120"/>
              </a:rPr>
              <a:t>redes</a:t>
            </a:r>
            <a:r>
              <a:rPr lang="en-US" sz="2900" b="1" dirty="0" smtClean="0">
                <a:solidFill>
                  <a:srgbClr val="12223C"/>
                </a:solidFill>
                <a:latin typeface="Aptos" pitchFamily="34" charset="0"/>
                <a:ea typeface="Aptos" pitchFamily="34" charset="-122"/>
                <a:cs typeface="Aptos" pitchFamily="34" charset="-120"/>
              </a:rPr>
              <a:t> ART</a:t>
            </a:r>
            <a:endParaRPr lang="en-US" sz="2900" dirty="0"/>
          </a:p>
        </p:txBody>
      </p:sp>
      <p:sp>
        <p:nvSpPr>
          <p:cNvPr id="6" name="Rectángulo 5"/>
          <p:cNvSpPr/>
          <p:nvPr/>
        </p:nvSpPr>
        <p:spPr>
          <a:xfrm>
            <a:off x="467360" y="1238426"/>
            <a:ext cx="10822940" cy="646331"/>
          </a:xfrm>
          <a:prstGeom prst="rect">
            <a:avLst/>
          </a:prstGeom>
        </p:spPr>
        <p:txBody>
          <a:bodyPr wrap="square">
            <a:spAutoFit/>
          </a:bodyPr>
          <a:lstStyle/>
          <a:p>
            <a:r>
              <a:rPr lang="es-ES" dirty="0"/>
              <a:t>Las redes de la familia ART se utilizan o se han estudiado en diferentes áreas donde interesa reconocer patrones y formar categorías </a:t>
            </a:r>
            <a:r>
              <a:rPr lang="es-ES" dirty="0" smtClean="0"/>
              <a:t>adaptativas. </a:t>
            </a:r>
            <a:r>
              <a:rPr lang="es-ES" dirty="0" err="1" smtClean="0"/>
              <a:t>Alqunos</a:t>
            </a:r>
            <a:r>
              <a:rPr lang="es-ES" dirty="0" smtClean="0"/>
              <a:t> ejemplos:</a:t>
            </a:r>
            <a:endParaRPr lang="en-US" dirty="0"/>
          </a:p>
        </p:txBody>
      </p:sp>
      <p:pic>
        <p:nvPicPr>
          <p:cNvPr id="7" name="Imagen 6"/>
          <p:cNvPicPr>
            <a:picLocks noChangeAspect="1"/>
          </p:cNvPicPr>
          <p:nvPr/>
        </p:nvPicPr>
        <p:blipFill>
          <a:blip r:embed="rId2"/>
          <a:stretch>
            <a:fillRect/>
          </a:stretch>
        </p:blipFill>
        <p:spPr>
          <a:xfrm>
            <a:off x="467360" y="2172752"/>
            <a:ext cx="1971040" cy="1573748"/>
          </a:xfrm>
          <a:prstGeom prst="rect">
            <a:avLst/>
          </a:prstGeom>
        </p:spPr>
      </p:pic>
      <p:sp>
        <p:nvSpPr>
          <p:cNvPr id="8" name="Rectángulo 7"/>
          <p:cNvSpPr/>
          <p:nvPr/>
        </p:nvSpPr>
        <p:spPr>
          <a:xfrm>
            <a:off x="2476539" y="2110778"/>
            <a:ext cx="3479762" cy="1754326"/>
          </a:xfrm>
          <a:prstGeom prst="rect">
            <a:avLst/>
          </a:prstGeom>
        </p:spPr>
        <p:txBody>
          <a:bodyPr wrap="square">
            <a:spAutoFit/>
          </a:bodyPr>
          <a:lstStyle/>
          <a:p>
            <a:r>
              <a:rPr lang="es-ES" b="1" dirty="0"/>
              <a:t>Detección de patrones </a:t>
            </a:r>
            <a:r>
              <a:rPr lang="es-ES" b="1" dirty="0" smtClean="0"/>
              <a:t>industriales</a:t>
            </a:r>
          </a:p>
          <a:p>
            <a:r>
              <a:rPr lang="es-ES" dirty="0" smtClean="0"/>
              <a:t>Agrupar </a:t>
            </a:r>
            <a:r>
              <a:rPr lang="es-ES" dirty="0"/>
              <a:t>estados de funcionamiento de máquinas según mediciones de sensores. Puede ayudar a identificar </a:t>
            </a:r>
            <a:r>
              <a:rPr lang="es-ES" dirty="0" smtClean="0"/>
              <a:t>patrones que </a:t>
            </a:r>
            <a:r>
              <a:rPr lang="es-ES" dirty="0"/>
              <a:t>merezcan revisión.</a:t>
            </a:r>
            <a:endParaRPr lang="en-US" dirty="0"/>
          </a:p>
        </p:txBody>
      </p:sp>
      <p:pic>
        <p:nvPicPr>
          <p:cNvPr id="9" name="Imagen 8"/>
          <p:cNvPicPr>
            <a:picLocks noChangeAspect="1"/>
          </p:cNvPicPr>
          <p:nvPr/>
        </p:nvPicPr>
        <p:blipFill>
          <a:blip r:embed="rId3"/>
          <a:stretch>
            <a:fillRect/>
          </a:stretch>
        </p:blipFill>
        <p:spPr>
          <a:xfrm>
            <a:off x="6080760" y="2172752"/>
            <a:ext cx="2068861" cy="1573748"/>
          </a:xfrm>
          <a:prstGeom prst="rect">
            <a:avLst/>
          </a:prstGeom>
        </p:spPr>
      </p:pic>
      <p:sp>
        <p:nvSpPr>
          <p:cNvPr id="10" name="Rectángulo 9"/>
          <p:cNvSpPr/>
          <p:nvPr/>
        </p:nvSpPr>
        <p:spPr>
          <a:xfrm>
            <a:off x="8149621" y="2170013"/>
            <a:ext cx="3670300" cy="1477328"/>
          </a:xfrm>
          <a:prstGeom prst="rect">
            <a:avLst/>
          </a:prstGeom>
        </p:spPr>
        <p:txBody>
          <a:bodyPr wrap="square">
            <a:spAutoFit/>
          </a:bodyPr>
          <a:lstStyle/>
          <a:p>
            <a:r>
              <a:rPr lang="es-ES" b="1" dirty="0"/>
              <a:t>Reconocimiento y análisis de </a:t>
            </a:r>
            <a:r>
              <a:rPr lang="es-ES" b="1" dirty="0" smtClean="0"/>
              <a:t>imágenes</a:t>
            </a:r>
          </a:p>
          <a:p>
            <a:r>
              <a:rPr lang="es-ES" dirty="0" smtClean="0"/>
              <a:t>Agrupar </a:t>
            </a:r>
            <a:r>
              <a:rPr lang="es-ES" dirty="0"/>
              <a:t>patrones visuales o características extraídas de </a:t>
            </a:r>
            <a:r>
              <a:rPr lang="es-ES" dirty="0" smtClean="0"/>
              <a:t>imágenes.</a:t>
            </a:r>
            <a:endParaRPr lang="en-US" dirty="0"/>
          </a:p>
        </p:txBody>
      </p:sp>
      <p:pic>
        <p:nvPicPr>
          <p:cNvPr id="11" name="Imagen 10"/>
          <p:cNvPicPr>
            <a:picLocks noChangeAspect="1"/>
          </p:cNvPicPr>
          <p:nvPr/>
        </p:nvPicPr>
        <p:blipFill>
          <a:blip r:embed="rId4"/>
          <a:stretch>
            <a:fillRect/>
          </a:stretch>
        </p:blipFill>
        <p:spPr>
          <a:xfrm>
            <a:off x="368300" y="4379857"/>
            <a:ext cx="2070100" cy="1443851"/>
          </a:xfrm>
          <a:prstGeom prst="rect">
            <a:avLst/>
          </a:prstGeom>
        </p:spPr>
      </p:pic>
      <p:sp>
        <p:nvSpPr>
          <p:cNvPr id="12" name="Rectángulo 11"/>
          <p:cNvSpPr/>
          <p:nvPr/>
        </p:nvSpPr>
        <p:spPr>
          <a:xfrm>
            <a:off x="2491626" y="4224619"/>
            <a:ext cx="3464675" cy="1754326"/>
          </a:xfrm>
          <a:prstGeom prst="rect">
            <a:avLst/>
          </a:prstGeom>
        </p:spPr>
        <p:txBody>
          <a:bodyPr wrap="square">
            <a:spAutoFit/>
          </a:bodyPr>
          <a:lstStyle/>
          <a:p>
            <a:r>
              <a:rPr lang="es-ES" b="1" dirty="0"/>
              <a:t>Segmentación de usuarios o </a:t>
            </a:r>
            <a:r>
              <a:rPr lang="es-ES" b="1" dirty="0" smtClean="0"/>
              <a:t>clientes</a:t>
            </a:r>
          </a:p>
          <a:p>
            <a:r>
              <a:rPr lang="es-ES" dirty="0" smtClean="0"/>
              <a:t>Descubrir </a:t>
            </a:r>
            <a:r>
              <a:rPr lang="es-ES" dirty="0"/>
              <a:t>grupos </a:t>
            </a:r>
            <a:r>
              <a:rPr lang="es-ES" dirty="0" smtClean="0"/>
              <a:t>con </a:t>
            </a:r>
            <a:r>
              <a:rPr lang="es-ES" dirty="0"/>
              <a:t>comportamientos similares a partir de variables de consumo, frecuencia o preferencias.</a:t>
            </a:r>
            <a:endParaRPr lang="en-US" dirty="0"/>
          </a:p>
        </p:txBody>
      </p:sp>
      <p:pic>
        <p:nvPicPr>
          <p:cNvPr id="13" name="Imagen 12"/>
          <p:cNvPicPr>
            <a:picLocks noChangeAspect="1"/>
          </p:cNvPicPr>
          <p:nvPr/>
        </p:nvPicPr>
        <p:blipFill>
          <a:blip r:embed="rId5"/>
          <a:stretch>
            <a:fillRect/>
          </a:stretch>
        </p:blipFill>
        <p:spPr>
          <a:xfrm>
            <a:off x="6095847" y="4379857"/>
            <a:ext cx="2053774" cy="1488986"/>
          </a:xfrm>
          <a:prstGeom prst="rect">
            <a:avLst/>
          </a:prstGeom>
        </p:spPr>
      </p:pic>
      <p:sp>
        <p:nvSpPr>
          <p:cNvPr id="14" name="Rectángulo 13"/>
          <p:cNvSpPr/>
          <p:nvPr/>
        </p:nvSpPr>
        <p:spPr>
          <a:xfrm>
            <a:off x="8149621" y="4357012"/>
            <a:ext cx="3604221" cy="1477328"/>
          </a:xfrm>
          <a:prstGeom prst="rect">
            <a:avLst/>
          </a:prstGeom>
        </p:spPr>
        <p:txBody>
          <a:bodyPr wrap="square">
            <a:spAutoFit/>
          </a:bodyPr>
          <a:lstStyle/>
          <a:p>
            <a:r>
              <a:rPr lang="es-ES" b="1" dirty="0"/>
              <a:t>Análisis de perfiles fitness — nuestro </a:t>
            </a:r>
            <a:r>
              <a:rPr lang="es-ES" b="1" dirty="0" smtClean="0"/>
              <a:t>proyecto</a:t>
            </a:r>
          </a:p>
          <a:p>
            <a:r>
              <a:rPr lang="es-ES" dirty="0" smtClean="0"/>
              <a:t>Agrupar </a:t>
            </a:r>
            <a:r>
              <a:rPr lang="es-ES" dirty="0"/>
              <a:t>usuarios según variables biométricas y hábitos de </a:t>
            </a:r>
            <a:r>
              <a:rPr lang="es-ES" dirty="0" smtClean="0"/>
              <a:t>entrenamiento.</a:t>
            </a:r>
            <a:endParaRPr lang="en-US" dirty="0"/>
          </a:p>
        </p:txBody>
      </p:sp>
    </p:spTree>
    <p:extLst>
      <p:ext uri="{BB962C8B-B14F-4D97-AF65-F5344CB8AC3E}">
        <p14:creationId xmlns:p14="http://schemas.microsoft.com/office/powerpoint/2010/main" val="2796411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hape 0"/>
          <p:cNvSpPr/>
          <p:nvPr/>
        </p:nvSpPr>
        <p:spPr>
          <a:xfrm>
            <a:off x="0" y="-102108"/>
            <a:ext cx="12191695" cy="128016"/>
          </a:xfrm>
          <a:prstGeom prst="roundRect">
            <a:avLst/>
          </a:prstGeom>
          <a:solidFill>
            <a:srgbClr val="00A5A8"/>
          </a:solidFill>
          <a:ln w="3810">
            <a:solidFill>
              <a:srgbClr val="00A5A8"/>
            </a:solidFill>
            <a:prstDash val="solid"/>
          </a:ln>
        </p:spPr>
      </p:sp>
      <p:pic>
        <p:nvPicPr>
          <p:cNvPr id="23" name="Imagen 2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55086" y="-239268"/>
            <a:ext cx="3874709" cy="3140378"/>
          </a:xfrm>
          <a:prstGeom prst="ellipse">
            <a:avLst/>
          </a:prstGeom>
          <a:ln>
            <a:noFill/>
          </a:ln>
          <a:effectLst>
            <a:softEdge rad="112500"/>
          </a:effectLst>
        </p:spPr>
      </p:pic>
      <p:sp>
        <p:nvSpPr>
          <p:cNvPr id="10" name="Text 2"/>
          <p:cNvSpPr/>
          <p:nvPr/>
        </p:nvSpPr>
        <p:spPr>
          <a:xfrm>
            <a:off x="594360" y="1033272"/>
            <a:ext cx="10972800" cy="658368"/>
          </a:xfrm>
          <a:prstGeom prst="rect">
            <a:avLst/>
          </a:prstGeom>
          <a:noFill/>
          <a:ln/>
        </p:spPr>
        <p:txBody>
          <a:bodyPr wrap="square" lIns="0" tIns="0" rIns="0" bIns="0" rtlCol="0" anchor="ctr">
            <a:noAutofit/>
          </a:bodyPr>
          <a:lstStyle/>
          <a:p>
            <a:r>
              <a:rPr lang="es-ES" sz="3000" b="1" dirty="0">
                <a:ea typeface="Aptos"/>
              </a:rPr>
              <a:t>Sistema de agrupamiento adaptativo de </a:t>
            </a:r>
            <a:r>
              <a:rPr lang="es-ES" sz="3000" b="1" dirty="0" smtClean="0">
                <a:ea typeface="Aptos"/>
              </a:rPr>
              <a:t>hábitos </a:t>
            </a:r>
          </a:p>
          <a:p>
            <a:r>
              <a:rPr lang="es-ES" sz="3000" b="1" dirty="0" smtClean="0">
                <a:ea typeface="Aptos"/>
              </a:rPr>
              <a:t>fitness </a:t>
            </a:r>
            <a:r>
              <a:rPr lang="es-ES" sz="3000" b="1" dirty="0">
                <a:ea typeface="Aptos"/>
              </a:rPr>
              <a:t>mediante redes </a:t>
            </a:r>
            <a:r>
              <a:rPr lang="es-ES" sz="3000" b="1" dirty="0" err="1">
                <a:ea typeface="Aptos"/>
              </a:rPr>
              <a:t>Carpenter-Grossberg</a:t>
            </a:r>
            <a:endParaRPr lang="en-US" sz="3000" dirty="0">
              <a:ea typeface="Aptos"/>
            </a:endParaRPr>
          </a:p>
        </p:txBody>
      </p:sp>
      <p:sp>
        <p:nvSpPr>
          <p:cNvPr id="7" name="Text 1"/>
          <p:cNvSpPr/>
          <p:nvPr/>
        </p:nvSpPr>
        <p:spPr>
          <a:xfrm>
            <a:off x="594360" y="320040"/>
            <a:ext cx="10058400" cy="274320"/>
          </a:xfrm>
          <a:prstGeom prst="rect">
            <a:avLst/>
          </a:prstGeom>
          <a:noFill/>
          <a:ln/>
        </p:spPr>
        <p:txBody>
          <a:bodyPr wrap="square" lIns="0" tIns="0" rIns="0" bIns="0" rtlCol="0" anchor="ctr">
            <a:normAutofit/>
          </a:bodyPr>
          <a:lstStyle/>
          <a:p>
            <a:pPr marL="0" indent="0">
              <a:buNone/>
            </a:pPr>
            <a:r>
              <a:rPr lang="en-US" sz="1100" b="1" kern="0" spc="200" dirty="0">
                <a:solidFill>
                  <a:srgbClr val="00A5A8"/>
                </a:solidFill>
                <a:latin typeface="Aptos" pitchFamily="34" charset="0"/>
                <a:ea typeface="Aptos" pitchFamily="34" charset="-122"/>
                <a:cs typeface="Aptos" pitchFamily="34" charset="-120"/>
              </a:rPr>
              <a:t>NUESTRO PUNTO DE PARTIDA</a:t>
            </a:r>
            <a:endParaRPr lang="en-US" sz="1100" dirty="0"/>
          </a:p>
        </p:txBody>
      </p:sp>
      <p:sp>
        <p:nvSpPr>
          <p:cNvPr id="11" name="Text 2"/>
          <p:cNvSpPr/>
          <p:nvPr/>
        </p:nvSpPr>
        <p:spPr>
          <a:xfrm>
            <a:off x="548640" y="2369820"/>
            <a:ext cx="10972800" cy="658368"/>
          </a:xfrm>
          <a:prstGeom prst="rect">
            <a:avLst/>
          </a:prstGeom>
          <a:noFill/>
          <a:ln/>
        </p:spPr>
        <p:txBody>
          <a:bodyPr wrap="square" lIns="0" tIns="0" rIns="0" bIns="0" rtlCol="0" anchor="ctr">
            <a:normAutofit/>
          </a:bodyPr>
          <a:lstStyle/>
          <a:p>
            <a:pPr marL="0" indent="0">
              <a:buNone/>
            </a:pPr>
            <a:r>
              <a:rPr lang="en-US" sz="2900" b="1" dirty="0" err="1" smtClean="0">
                <a:solidFill>
                  <a:schemeClr val="accent1">
                    <a:lumMod val="50000"/>
                  </a:schemeClr>
                </a:solidFill>
                <a:latin typeface="Aptos" pitchFamily="34" charset="0"/>
                <a:ea typeface="Aptos" pitchFamily="34" charset="-122"/>
                <a:cs typeface="Aptos" pitchFamily="34" charset="-120"/>
              </a:rPr>
              <a:t>Nuestro</a:t>
            </a:r>
            <a:r>
              <a:rPr lang="en-US" sz="2900" b="1" dirty="0" smtClean="0">
                <a:solidFill>
                  <a:schemeClr val="accent1">
                    <a:lumMod val="50000"/>
                  </a:schemeClr>
                </a:solidFill>
                <a:latin typeface="Aptos" pitchFamily="34" charset="0"/>
                <a:ea typeface="Aptos" pitchFamily="34" charset="-122"/>
                <a:cs typeface="Aptos" pitchFamily="34" charset="-120"/>
              </a:rPr>
              <a:t> </a:t>
            </a:r>
            <a:r>
              <a:rPr lang="en-US" sz="2900" b="1" dirty="0" err="1" smtClean="0">
                <a:solidFill>
                  <a:schemeClr val="accent1">
                    <a:lumMod val="50000"/>
                  </a:schemeClr>
                </a:solidFill>
                <a:latin typeface="Aptos" pitchFamily="34" charset="0"/>
                <a:ea typeface="Aptos" pitchFamily="34" charset="-122"/>
                <a:cs typeface="Aptos" pitchFamily="34" charset="-120"/>
              </a:rPr>
              <a:t>recorrido</a:t>
            </a:r>
            <a:r>
              <a:rPr lang="en-US" sz="2900" b="1" dirty="0" smtClean="0">
                <a:solidFill>
                  <a:schemeClr val="accent1">
                    <a:lumMod val="50000"/>
                  </a:schemeClr>
                </a:solidFill>
                <a:latin typeface="Aptos" pitchFamily="34" charset="0"/>
                <a:ea typeface="Aptos" pitchFamily="34" charset="-122"/>
                <a:cs typeface="Aptos" pitchFamily="34" charset="-120"/>
              </a:rPr>
              <a:t> de </a:t>
            </a:r>
            <a:r>
              <a:rPr lang="en-US" sz="2900" b="1" dirty="0" err="1" smtClean="0">
                <a:solidFill>
                  <a:schemeClr val="accent1">
                    <a:lumMod val="50000"/>
                  </a:schemeClr>
                </a:solidFill>
                <a:latin typeface="Aptos" pitchFamily="34" charset="0"/>
                <a:ea typeface="Aptos" pitchFamily="34" charset="-122"/>
                <a:cs typeface="Aptos" pitchFamily="34" charset="-120"/>
              </a:rPr>
              <a:t>datos</a:t>
            </a:r>
            <a:endParaRPr lang="en-US" sz="2900" dirty="0">
              <a:solidFill>
                <a:schemeClr val="accent1">
                  <a:lumMod val="50000"/>
                </a:schemeClr>
              </a:solidFill>
            </a:endParaRPr>
          </a:p>
        </p:txBody>
      </p:sp>
      <p:sp>
        <p:nvSpPr>
          <p:cNvPr id="12" name="Shape 5"/>
          <p:cNvSpPr/>
          <p:nvPr/>
        </p:nvSpPr>
        <p:spPr>
          <a:xfrm>
            <a:off x="292608" y="3231818"/>
            <a:ext cx="2633472" cy="1993392"/>
          </a:xfrm>
          <a:prstGeom prst="roundRect">
            <a:avLst>
              <a:gd name="adj" fmla="val 6881"/>
            </a:avLst>
          </a:prstGeom>
          <a:solidFill>
            <a:srgbClr val="FFFFFF"/>
          </a:solidFill>
          <a:ln w="3810">
            <a:solidFill>
              <a:srgbClr val="FFFFFF"/>
            </a:solidFill>
            <a:prstDash val="solid"/>
          </a:ln>
        </p:spPr>
      </p:sp>
      <p:sp>
        <p:nvSpPr>
          <p:cNvPr id="13" name="Text 6"/>
          <p:cNvSpPr/>
          <p:nvPr/>
        </p:nvSpPr>
        <p:spPr>
          <a:xfrm>
            <a:off x="438912" y="3579290"/>
            <a:ext cx="2340864" cy="530352"/>
          </a:xfrm>
          <a:prstGeom prst="rect">
            <a:avLst/>
          </a:prstGeom>
          <a:noFill/>
          <a:ln/>
        </p:spPr>
        <p:txBody>
          <a:bodyPr wrap="square" lIns="0" tIns="0" rIns="0" bIns="0" rtlCol="0" anchor="ctr">
            <a:normAutofit/>
          </a:bodyPr>
          <a:lstStyle/>
          <a:p>
            <a:pPr marL="0" indent="0" algn="ctr">
              <a:buNone/>
            </a:pPr>
            <a:r>
              <a:rPr lang="en-US" sz="2900" b="1" dirty="0">
                <a:solidFill>
                  <a:srgbClr val="315E9B"/>
                </a:solidFill>
                <a:latin typeface="Aptos" pitchFamily="34" charset="0"/>
                <a:ea typeface="Aptos" pitchFamily="34" charset="-122"/>
                <a:cs typeface="Aptos" pitchFamily="34" charset="-120"/>
              </a:rPr>
              <a:t>973</a:t>
            </a:r>
            <a:endParaRPr lang="en-US" sz="2900" dirty="0"/>
          </a:p>
        </p:txBody>
      </p:sp>
      <p:sp>
        <p:nvSpPr>
          <p:cNvPr id="14" name="Text 7"/>
          <p:cNvSpPr/>
          <p:nvPr/>
        </p:nvSpPr>
        <p:spPr>
          <a:xfrm>
            <a:off x="420624" y="4283378"/>
            <a:ext cx="2377440" cy="502920"/>
          </a:xfrm>
          <a:prstGeom prst="rect">
            <a:avLst/>
          </a:prstGeom>
          <a:noFill/>
          <a:ln/>
        </p:spPr>
        <p:txBody>
          <a:bodyPr wrap="square" lIns="0" tIns="0" rIns="0" bIns="0" rtlCol="0" anchor="ctr">
            <a:normAutofit/>
          </a:bodyPr>
          <a:lstStyle/>
          <a:p>
            <a:pPr marL="0" indent="0" algn="ctr">
              <a:buNone/>
            </a:pPr>
            <a:r>
              <a:rPr lang="en-US" sz="1500" dirty="0" err="1">
                <a:solidFill>
                  <a:srgbClr val="20324B"/>
                </a:solidFill>
                <a:latin typeface="Aptos" pitchFamily="34" charset="0"/>
                <a:ea typeface="Aptos" pitchFamily="34" charset="-122"/>
                <a:cs typeface="Aptos" pitchFamily="34" charset="-120"/>
              </a:rPr>
              <a:t>Registros</a:t>
            </a:r>
            <a:r>
              <a:rPr lang="en-US" sz="1500" dirty="0">
                <a:solidFill>
                  <a:srgbClr val="20324B"/>
                </a:solidFill>
                <a:latin typeface="Aptos" pitchFamily="34" charset="0"/>
                <a:ea typeface="Aptos" pitchFamily="34" charset="-122"/>
                <a:cs typeface="Aptos" pitchFamily="34" charset="-120"/>
              </a:rPr>
              <a:t> </a:t>
            </a:r>
            <a:r>
              <a:rPr lang="en-US" sz="1500" dirty="0" smtClean="0">
                <a:solidFill>
                  <a:srgbClr val="20324B"/>
                </a:solidFill>
                <a:latin typeface="Aptos" pitchFamily="34" charset="0"/>
                <a:ea typeface="Aptos" pitchFamily="34" charset="-122"/>
                <a:cs typeface="Aptos" pitchFamily="34" charset="-120"/>
              </a:rPr>
              <a:t>Fuente </a:t>
            </a:r>
          </a:p>
          <a:p>
            <a:pPr marL="0" indent="0" algn="ctr">
              <a:buNone/>
            </a:pPr>
            <a:r>
              <a:rPr lang="en-US" sz="1500" dirty="0" smtClean="0">
                <a:solidFill>
                  <a:srgbClr val="20324B"/>
                </a:solidFill>
                <a:latin typeface="Aptos" pitchFamily="34" charset="0"/>
                <a:ea typeface="Aptos" pitchFamily="34" charset="-122"/>
                <a:cs typeface="Aptos" pitchFamily="34" charset="-120"/>
              </a:rPr>
              <a:t>Dataset </a:t>
            </a:r>
            <a:r>
              <a:rPr lang="en-US" sz="1500" dirty="0" err="1" smtClean="0">
                <a:solidFill>
                  <a:srgbClr val="20324B"/>
                </a:solidFill>
                <a:latin typeface="Aptos" pitchFamily="34" charset="0"/>
                <a:ea typeface="Aptos" pitchFamily="34" charset="-122"/>
                <a:cs typeface="Aptos" pitchFamily="34" charset="-120"/>
              </a:rPr>
              <a:t>Inicial</a:t>
            </a:r>
            <a:endParaRPr lang="en-US" sz="1500" dirty="0"/>
          </a:p>
        </p:txBody>
      </p:sp>
      <p:sp>
        <p:nvSpPr>
          <p:cNvPr id="15" name="Shape 8"/>
          <p:cNvSpPr/>
          <p:nvPr/>
        </p:nvSpPr>
        <p:spPr>
          <a:xfrm>
            <a:off x="3172968" y="3231818"/>
            <a:ext cx="2633472" cy="1993392"/>
          </a:xfrm>
          <a:prstGeom prst="roundRect">
            <a:avLst>
              <a:gd name="adj" fmla="val 6881"/>
            </a:avLst>
          </a:prstGeom>
          <a:solidFill>
            <a:srgbClr val="FFFFFF"/>
          </a:solidFill>
          <a:ln w="3810">
            <a:solidFill>
              <a:srgbClr val="FFFFFF"/>
            </a:solidFill>
            <a:prstDash val="solid"/>
          </a:ln>
        </p:spPr>
      </p:sp>
      <p:sp>
        <p:nvSpPr>
          <p:cNvPr id="16" name="Text 9"/>
          <p:cNvSpPr/>
          <p:nvPr/>
        </p:nvSpPr>
        <p:spPr>
          <a:xfrm>
            <a:off x="3319272" y="3579290"/>
            <a:ext cx="2340864" cy="530352"/>
          </a:xfrm>
          <a:prstGeom prst="rect">
            <a:avLst/>
          </a:prstGeom>
          <a:noFill/>
          <a:ln/>
        </p:spPr>
        <p:txBody>
          <a:bodyPr wrap="square" lIns="0" tIns="0" rIns="0" bIns="0" rtlCol="0" anchor="ctr">
            <a:normAutofit/>
          </a:bodyPr>
          <a:lstStyle/>
          <a:p>
            <a:pPr marL="0" indent="0" algn="ctr">
              <a:buNone/>
            </a:pPr>
            <a:r>
              <a:rPr lang="en-US" sz="2900" b="1" dirty="0">
                <a:solidFill>
                  <a:srgbClr val="315E9B"/>
                </a:solidFill>
                <a:latin typeface="Aptos" pitchFamily="34" charset="0"/>
                <a:ea typeface="Aptos" pitchFamily="34" charset="-122"/>
                <a:cs typeface="Aptos" pitchFamily="34" charset="-120"/>
              </a:rPr>
              <a:t>462 / 462</a:t>
            </a:r>
            <a:endParaRPr lang="en-US" sz="2900" dirty="0"/>
          </a:p>
        </p:txBody>
      </p:sp>
      <p:sp>
        <p:nvSpPr>
          <p:cNvPr id="17" name="Text 10"/>
          <p:cNvSpPr/>
          <p:nvPr/>
        </p:nvSpPr>
        <p:spPr>
          <a:xfrm>
            <a:off x="3300984" y="4283378"/>
            <a:ext cx="2377440" cy="698930"/>
          </a:xfrm>
          <a:prstGeom prst="rect">
            <a:avLst/>
          </a:prstGeom>
          <a:noFill/>
          <a:ln/>
        </p:spPr>
        <p:txBody>
          <a:bodyPr wrap="square" lIns="0" tIns="0" rIns="0" bIns="0" rtlCol="0" anchor="ctr">
            <a:normAutofit/>
          </a:bodyPr>
          <a:lstStyle/>
          <a:p>
            <a:pPr marL="0" indent="0" algn="ctr">
              <a:buNone/>
            </a:pPr>
            <a:r>
              <a:rPr lang="en-US" sz="1500" dirty="0" err="1">
                <a:solidFill>
                  <a:srgbClr val="20324B"/>
                </a:solidFill>
                <a:latin typeface="Aptos" pitchFamily="34" charset="0"/>
                <a:ea typeface="Aptos" pitchFamily="34" charset="-122"/>
                <a:cs typeface="Aptos" pitchFamily="34" charset="-120"/>
              </a:rPr>
              <a:t>Muestras</a:t>
            </a:r>
            <a:r>
              <a:rPr lang="en-US" sz="1500" dirty="0">
                <a:solidFill>
                  <a:srgbClr val="20324B"/>
                </a:solidFill>
                <a:latin typeface="Aptos" pitchFamily="34" charset="0"/>
                <a:ea typeface="Aptos" pitchFamily="34" charset="-122"/>
                <a:cs typeface="Aptos" pitchFamily="34" charset="-120"/>
              </a:rPr>
              <a:t> </a:t>
            </a:r>
            <a:r>
              <a:rPr lang="en-US" sz="1500" dirty="0" err="1" smtClean="0">
                <a:solidFill>
                  <a:srgbClr val="20324B"/>
                </a:solidFill>
                <a:latin typeface="Aptos" pitchFamily="34" charset="0"/>
                <a:ea typeface="Aptos" pitchFamily="34" charset="-122"/>
                <a:cs typeface="Aptos" pitchFamily="34" charset="-120"/>
              </a:rPr>
              <a:t>balanceadas</a:t>
            </a:r>
            <a:endParaRPr lang="en-US" sz="1500" dirty="0" smtClean="0">
              <a:solidFill>
                <a:srgbClr val="20324B"/>
              </a:solidFill>
              <a:latin typeface="Aptos" pitchFamily="34" charset="0"/>
              <a:ea typeface="Aptos" pitchFamily="34" charset="-122"/>
              <a:cs typeface="Aptos" pitchFamily="34" charset="-120"/>
            </a:endParaRPr>
          </a:p>
          <a:p>
            <a:pPr marL="0" indent="0" algn="ctr">
              <a:buNone/>
            </a:pPr>
            <a:r>
              <a:rPr lang="es-ES" sz="1500" dirty="0" smtClean="0">
                <a:solidFill>
                  <a:srgbClr val="20324B"/>
                </a:solidFill>
                <a:latin typeface="Aptos" pitchFamily="34" charset="0"/>
                <a:ea typeface="Aptos" pitchFamily="34" charset="-122"/>
              </a:rPr>
              <a:t>Separación de Hombres/Mujeres</a:t>
            </a:r>
            <a:endParaRPr lang="en-US" sz="1500" dirty="0"/>
          </a:p>
        </p:txBody>
      </p:sp>
      <p:sp>
        <p:nvSpPr>
          <p:cNvPr id="18" name="Shape 11"/>
          <p:cNvSpPr/>
          <p:nvPr/>
        </p:nvSpPr>
        <p:spPr>
          <a:xfrm>
            <a:off x="6053328" y="3231818"/>
            <a:ext cx="2633472" cy="1993392"/>
          </a:xfrm>
          <a:prstGeom prst="roundRect">
            <a:avLst>
              <a:gd name="adj" fmla="val 6881"/>
            </a:avLst>
          </a:prstGeom>
          <a:solidFill>
            <a:srgbClr val="FFFFFF"/>
          </a:solidFill>
          <a:ln w="3810">
            <a:solidFill>
              <a:srgbClr val="FFFFFF"/>
            </a:solidFill>
            <a:prstDash val="solid"/>
          </a:ln>
        </p:spPr>
      </p:sp>
      <p:sp>
        <p:nvSpPr>
          <p:cNvPr id="19" name="Text 12"/>
          <p:cNvSpPr/>
          <p:nvPr/>
        </p:nvSpPr>
        <p:spPr>
          <a:xfrm>
            <a:off x="6199632" y="3579290"/>
            <a:ext cx="2340864" cy="530352"/>
          </a:xfrm>
          <a:prstGeom prst="rect">
            <a:avLst/>
          </a:prstGeom>
          <a:noFill/>
          <a:ln/>
        </p:spPr>
        <p:txBody>
          <a:bodyPr wrap="square" lIns="0" tIns="0" rIns="0" bIns="0" rtlCol="0" anchor="ctr">
            <a:normAutofit/>
          </a:bodyPr>
          <a:lstStyle/>
          <a:p>
            <a:pPr marL="0" indent="0" algn="ctr">
              <a:buNone/>
            </a:pPr>
            <a:r>
              <a:rPr lang="en-US" sz="2900" b="1" dirty="0">
                <a:solidFill>
                  <a:srgbClr val="315E9B"/>
                </a:solidFill>
                <a:latin typeface="Aptos" pitchFamily="34" charset="0"/>
                <a:ea typeface="Aptos" pitchFamily="34" charset="-122"/>
                <a:cs typeface="Aptos" pitchFamily="34" charset="-120"/>
              </a:rPr>
              <a:t>215 / 221</a:t>
            </a:r>
            <a:endParaRPr lang="en-US" sz="2900" dirty="0"/>
          </a:p>
        </p:txBody>
      </p:sp>
      <p:sp>
        <p:nvSpPr>
          <p:cNvPr id="20" name="Text 13"/>
          <p:cNvSpPr/>
          <p:nvPr/>
        </p:nvSpPr>
        <p:spPr>
          <a:xfrm>
            <a:off x="6181344" y="4283378"/>
            <a:ext cx="2377440" cy="847422"/>
          </a:xfrm>
          <a:prstGeom prst="rect">
            <a:avLst/>
          </a:prstGeom>
          <a:noFill/>
          <a:ln/>
        </p:spPr>
        <p:txBody>
          <a:bodyPr wrap="square" lIns="0" tIns="0" rIns="0" bIns="0" rtlCol="0" anchor="ctr">
            <a:normAutofit lnSpcReduction="10000"/>
          </a:bodyPr>
          <a:lstStyle/>
          <a:p>
            <a:pPr marL="0" indent="0" algn="ctr">
              <a:buNone/>
            </a:pPr>
            <a:r>
              <a:rPr lang="en-US" sz="1500" dirty="0" err="1" smtClean="0">
                <a:solidFill>
                  <a:srgbClr val="20324B"/>
                </a:solidFill>
                <a:latin typeface="Aptos" pitchFamily="34" charset="0"/>
                <a:ea typeface="Aptos" pitchFamily="34" charset="-122"/>
                <a:cs typeface="Aptos" pitchFamily="34" charset="-120"/>
              </a:rPr>
              <a:t>Filtro</a:t>
            </a:r>
            <a:r>
              <a:rPr lang="en-US" sz="1500" dirty="0" smtClean="0">
                <a:solidFill>
                  <a:srgbClr val="20324B"/>
                </a:solidFill>
                <a:latin typeface="Aptos" pitchFamily="34" charset="0"/>
                <a:ea typeface="Aptos" pitchFamily="34" charset="-122"/>
                <a:cs typeface="Aptos" pitchFamily="34" charset="-120"/>
              </a:rPr>
              <a:t> </a:t>
            </a:r>
            <a:r>
              <a:rPr lang="en-US" sz="1500" dirty="0" err="1">
                <a:solidFill>
                  <a:srgbClr val="20324B"/>
                </a:solidFill>
                <a:latin typeface="Aptos" pitchFamily="34" charset="0"/>
                <a:ea typeface="Aptos" pitchFamily="34" charset="-122"/>
                <a:cs typeface="Aptos" pitchFamily="34" charset="-120"/>
              </a:rPr>
              <a:t>e</a:t>
            </a:r>
            <a:r>
              <a:rPr lang="en-US" sz="1500" dirty="0" err="1" smtClean="0">
                <a:solidFill>
                  <a:srgbClr val="20324B"/>
                </a:solidFill>
                <a:latin typeface="Aptos" pitchFamily="34" charset="0"/>
                <a:ea typeface="Aptos" pitchFamily="34" charset="-122"/>
                <a:cs typeface="Aptos" pitchFamily="34" charset="-120"/>
              </a:rPr>
              <a:t>dad</a:t>
            </a:r>
            <a:r>
              <a:rPr lang="en-US" sz="1500" dirty="0" smtClean="0">
                <a:solidFill>
                  <a:srgbClr val="20324B"/>
                </a:solidFill>
                <a:latin typeface="Aptos" pitchFamily="34" charset="0"/>
                <a:ea typeface="Aptos" pitchFamily="34" charset="-122"/>
                <a:cs typeface="Aptos" pitchFamily="34" charset="-120"/>
              </a:rPr>
              <a:t> </a:t>
            </a:r>
            <a:r>
              <a:rPr lang="en-US" sz="1500" dirty="0">
                <a:solidFill>
                  <a:srgbClr val="20324B"/>
                </a:solidFill>
                <a:latin typeface="Aptos" pitchFamily="34" charset="0"/>
                <a:ea typeface="Aptos" pitchFamily="34" charset="-122"/>
                <a:cs typeface="Aptos" pitchFamily="34" charset="-120"/>
              </a:rPr>
              <a:t>20 a </a:t>
            </a:r>
            <a:r>
              <a:rPr lang="en-US" sz="1500" dirty="0" smtClean="0">
                <a:solidFill>
                  <a:srgbClr val="20324B"/>
                </a:solidFill>
                <a:latin typeface="Aptos" pitchFamily="34" charset="0"/>
                <a:ea typeface="Aptos" pitchFamily="34" charset="-122"/>
                <a:cs typeface="Aptos" pitchFamily="34" charset="-120"/>
              </a:rPr>
              <a:t>40</a:t>
            </a:r>
          </a:p>
          <a:p>
            <a:pPr marL="0" indent="0" algn="ctr">
              <a:buNone/>
            </a:pPr>
            <a:r>
              <a:rPr lang="es-ES" sz="1500" dirty="0" err="1" smtClean="0">
                <a:solidFill>
                  <a:srgbClr val="20324B"/>
                </a:solidFill>
                <a:latin typeface="Aptos" pitchFamily="34" charset="0"/>
                <a:ea typeface="Aptos" pitchFamily="34" charset="-122"/>
                <a:cs typeface="Aptos" pitchFamily="34" charset="-120"/>
              </a:rPr>
              <a:t>One</a:t>
            </a:r>
            <a:r>
              <a:rPr lang="es-ES" sz="1500" dirty="0" smtClean="0">
                <a:solidFill>
                  <a:srgbClr val="20324B"/>
                </a:solidFill>
                <a:latin typeface="Aptos" pitchFamily="34" charset="0"/>
                <a:ea typeface="Aptos" pitchFamily="34" charset="-122"/>
                <a:cs typeface="Aptos" pitchFamily="34" charset="-120"/>
              </a:rPr>
              <a:t>-Hot </a:t>
            </a:r>
            <a:r>
              <a:rPr lang="es-ES" sz="1500" dirty="0" err="1" smtClean="0">
                <a:solidFill>
                  <a:srgbClr val="20324B"/>
                </a:solidFill>
                <a:latin typeface="Aptos" pitchFamily="34" charset="0"/>
                <a:ea typeface="Aptos" pitchFamily="34" charset="-122"/>
                <a:cs typeface="Aptos" pitchFamily="34" charset="-120"/>
              </a:rPr>
              <a:t>Encoding</a:t>
            </a:r>
            <a:r>
              <a:rPr lang="es-ES" sz="1500" dirty="0" smtClean="0">
                <a:solidFill>
                  <a:srgbClr val="20324B"/>
                </a:solidFill>
                <a:latin typeface="Aptos" pitchFamily="34" charset="0"/>
                <a:ea typeface="Aptos" pitchFamily="34" charset="-122"/>
                <a:cs typeface="Aptos" pitchFamily="34" charset="-120"/>
              </a:rPr>
              <a:t> (</a:t>
            </a:r>
            <a:r>
              <a:rPr lang="es-ES" sz="1500" dirty="0" err="1" smtClean="0">
                <a:solidFill>
                  <a:srgbClr val="20324B"/>
                </a:solidFill>
                <a:latin typeface="Aptos" pitchFamily="34" charset="0"/>
                <a:ea typeface="Aptos" pitchFamily="34" charset="-122"/>
                <a:cs typeface="Aptos" pitchFamily="34" charset="-120"/>
              </a:rPr>
              <a:t>Workout_type</a:t>
            </a:r>
            <a:r>
              <a:rPr lang="es-ES" sz="1500" dirty="0" smtClean="0">
                <a:solidFill>
                  <a:srgbClr val="20324B"/>
                </a:solidFill>
                <a:latin typeface="Aptos" pitchFamily="34" charset="0"/>
                <a:ea typeface="Aptos" pitchFamily="34" charset="-122"/>
                <a:cs typeface="Aptos" pitchFamily="34" charset="-120"/>
              </a:rPr>
              <a:t>)</a:t>
            </a:r>
          </a:p>
          <a:p>
            <a:pPr marL="0" indent="0" algn="ctr">
              <a:buNone/>
            </a:pPr>
            <a:r>
              <a:rPr lang="es-ES" sz="1500" dirty="0" smtClean="0">
                <a:solidFill>
                  <a:srgbClr val="20324B"/>
                </a:solidFill>
                <a:latin typeface="Aptos" pitchFamily="34" charset="0"/>
                <a:ea typeface="Aptos" pitchFamily="34" charset="-122"/>
                <a:cs typeface="Aptos" pitchFamily="34" charset="-120"/>
              </a:rPr>
              <a:t>Normalización</a:t>
            </a:r>
            <a:endParaRPr lang="en-US" sz="1500" dirty="0" smtClean="0">
              <a:solidFill>
                <a:srgbClr val="20324B"/>
              </a:solidFill>
              <a:latin typeface="Aptos" pitchFamily="34" charset="0"/>
              <a:ea typeface="Aptos" pitchFamily="34" charset="-122"/>
              <a:cs typeface="Aptos" pitchFamily="34" charset="-120"/>
            </a:endParaRPr>
          </a:p>
          <a:p>
            <a:pPr marL="0" indent="0" algn="ctr">
              <a:buNone/>
            </a:pPr>
            <a:endParaRPr lang="en-US" sz="1500" dirty="0"/>
          </a:p>
        </p:txBody>
      </p:sp>
      <p:sp>
        <p:nvSpPr>
          <p:cNvPr id="21" name="Text 15"/>
          <p:cNvSpPr/>
          <p:nvPr/>
        </p:nvSpPr>
        <p:spPr>
          <a:xfrm>
            <a:off x="8833104" y="3579290"/>
            <a:ext cx="2340864" cy="530352"/>
          </a:xfrm>
          <a:prstGeom prst="rect">
            <a:avLst/>
          </a:prstGeom>
          <a:noFill/>
          <a:ln/>
        </p:spPr>
        <p:txBody>
          <a:bodyPr wrap="square" lIns="0" tIns="0" rIns="0" bIns="0" rtlCol="0" anchor="ctr">
            <a:normAutofit/>
          </a:bodyPr>
          <a:lstStyle/>
          <a:p>
            <a:pPr marL="0" indent="0" algn="ctr">
              <a:buNone/>
            </a:pPr>
            <a:r>
              <a:rPr lang="en-US" sz="2900" b="1" dirty="0">
                <a:solidFill>
                  <a:srgbClr val="00A5A8"/>
                </a:solidFill>
                <a:latin typeface="Aptos" pitchFamily="34" charset="0"/>
                <a:ea typeface="Aptos" pitchFamily="34" charset="-122"/>
                <a:cs typeface="Aptos" pitchFamily="34" charset="-120"/>
              </a:rPr>
              <a:t>44 / 53</a:t>
            </a:r>
            <a:endParaRPr lang="en-US" sz="2900" dirty="0"/>
          </a:p>
        </p:txBody>
      </p:sp>
      <p:sp>
        <p:nvSpPr>
          <p:cNvPr id="22" name="Text 16"/>
          <p:cNvSpPr/>
          <p:nvPr/>
        </p:nvSpPr>
        <p:spPr>
          <a:xfrm>
            <a:off x="9061704" y="4283377"/>
            <a:ext cx="1969712" cy="605145"/>
          </a:xfrm>
          <a:prstGeom prst="rect">
            <a:avLst/>
          </a:prstGeom>
          <a:noFill/>
          <a:ln/>
        </p:spPr>
        <p:txBody>
          <a:bodyPr wrap="square" lIns="0" tIns="0" rIns="0" bIns="0" rtlCol="0" anchor="ctr">
            <a:normAutofit/>
          </a:bodyPr>
          <a:lstStyle/>
          <a:p>
            <a:pPr marL="0" indent="0" algn="ctr">
              <a:buNone/>
            </a:pPr>
            <a:r>
              <a:rPr lang="en-US" sz="1500" dirty="0" smtClean="0">
                <a:solidFill>
                  <a:srgbClr val="20324B"/>
                </a:solidFill>
                <a:latin typeface="Aptos" pitchFamily="34" charset="0"/>
                <a:ea typeface="Aptos" pitchFamily="34" charset="-122"/>
                <a:cs typeface="Aptos" pitchFamily="34" charset="-120"/>
              </a:rPr>
              <a:t>Clusters </a:t>
            </a:r>
            <a:r>
              <a:rPr lang="en-US" sz="1500" dirty="0" err="1" smtClean="0">
                <a:solidFill>
                  <a:srgbClr val="20324B"/>
                </a:solidFill>
                <a:latin typeface="Aptos" pitchFamily="34" charset="0"/>
                <a:ea typeface="Aptos" pitchFamily="34" charset="-122"/>
                <a:cs typeface="Aptos" pitchFamily="34" charset="-120"/>
              </a:rPr>
              <a:t>resultantaes</a:t>
            </a:r>
            <a:r>
              <a:rPr lang="en-US" sz="1500" dirty="0" smtClean="0">
                <a:solidFill>
                  <a:srgbClr val="20324B"/>
                </a:solidFill>
                <a:latin typeface="Aptos" pitchFamily="34" charset="0"/>
                <a:ea typeface="Aptos" pitchFamily="34" charset="-122"/>
                <a:cs typeface="Aptos" pitchFamily="34" charset="-120"/>
              </a:rPr>
              <a:t> </a:t>
            </a:r>
            <a:r>
              <a:rPr lang="en-US" sz="1500" dirty="0">
                <a:solidFill>
                  <a:srgbClr val="20324B"/>
                </a:solidFill>
                <a:latin typeface="Aptos" pitchFamily="34" charset="0"/>
                <a:ea typeface="Aptos" pitchFamily="34" charset="-122"/>
                <a:cs typeface="Aptos" pitchFamily="34" charset="-120"/>
              </a:rPr>
              <a:t>con ρ = 0,70</a:t>
            </a:r>
            <a:endParaRPr lang="en-US" sz="1500" dirty="0"/>
          </a:p>
        </p:txBody>
      </p:sp>
      <p:sp>
        <p:nvSpPr>
          <p:cNvPr id="24" name="Shape 20"/>
          <p:cNvSpPr/>
          <p:nvPr/>
        </p:nvSpPr>
        <p:spPr>
          <a:xfrm>
            <a:off x="3300984" y="5398946"/>
            <a:ext cx="2666357" cy="812800"/>
          </a:xfrm>
          <a:prstGeom prst="roundRect">
            <a:avLst>
              <a:gd name="adj" fmla="val 10714"/>
            </a:avLst>
          </a:prstGeom>
          <a:solidFill>
            <a:srgbClr val="12223C"/>
          </a:solidFill>
          <a:ln w="3810">
            <a:solidFill>
              <a:srgbClr val="12223C"/>
            </a:solidFill>
            <a:prstDash val="solid"/>
          </a:ln>
        </p:spPr>
      </p:sp>
      <p:sp>
        <p:nvSpPr>
          <p:cNvPr id="25" name="Text 21"/>
          <p:cNvSpPr/>
          <p:nvPr/>
        </p:nvSpPr>
        <p:spPr>
          <a:xfrm>
            <a:off x="3429001" y="5544089"/>
            <a:ext cx="2505456" cy="522514"/>
          </a:xfrm>
          <a:prstGeom prst="rect">
            <a:avLst/>
          </a:prstGeom>
          <a:noFill/>
          <a:ln/>
        </p:spPr>
        <p:txBody>
          <a:bodyPr wrap="square" lIns="0" tIns="0" rIns="0" bIns="0" rtlCol="0" anchor="ctr">
            <a:noAutofit/>
          </a:bodyPr>
          <a:lstStyle/>
          <a:p>
            <a:pPr marL="0" indent="0">
              <a:buNone/>
            </a:pPr>
            <a:r>
              <a:rPr lang="en-US" sz="1400" dirty="0" err="1" smtClean="0">
                <a:solidFill>
                  <a:srgbClr val="FFFFFF"/>
                </a:solidFill>
                <a:latin typeface="Aptos" pitchFamily="34" charset="0"/>
                <a:ea typeface="Aptos" pitchFamily="34" charset="-122"/>
                <a:cs typeface="Aptos" pitchFamily="34" charset="-120"/>
              </a:rPr>
              <a:t>Código</a:t>
            </a:r>
            <a:r>
              <a:rPr lang="en-US" sz="1400" dirty="0" smtClean="0">
                <a:solidFill>
                  <a:srgbClr val="FFFFFF"/>
                </a:solidFill>
                <a:latin typeface="Aptos" pitchFamily="34" charset="0"/>
                <a:ea typeface="Aptos" pitchFamily="34" charset="-122"/>
                <a:cs typeface="Aptos" pitchFamily="34" charset="-120"/>
              </a:rPr>
              <a:t>:  preparer_datasets.py </a:t>
            </a:r>
            <a:endParaRPr lang="en-US" sz="1400" dirty="0"/>
          </a:p>
        </p:txBody>
      </p:sp>
      <p:sp>
        <p:nvSpPr>
          <p:cNvPr id="28" name="Shape 20"/>
          <p:cNvSpPr/>
          <p:nvPr/>
        </p:nvSpPr>
        <p:spPr>
          <a:xfrm>
            <a:off x="6111749" y="5398946"/>
            <a:ext cx="2666357" cy="812800"/>
          </a:xfrm>
          <a:prstGeom prst="roundRect">
            <a:avLst>
              <a:gd name="adj" fmla="val 10714"/>
            </a:avLst>
          </a:prstGeom>
          <a:solidFill>
            <a:srgbClr val="12223C"/>
          </a:solidFill>
          <a:ln w="3810">
            <a:solidFill>
              <a:srgbClr val="12223C"/>
            </a:solidFill>
            <a:prstDash val="solid"/>
          </a:ln>
        </p:spPr>
      </p:sp>
      <p:sp>
        <p:nvSpPr>
          <p:cNvPr id="29" name="Text 21"/>
          <p:cNvSpPr/>
          <p:nvPr/>
        </p:nvSpPr>
        <p:spPr>
          <a:xfrm>
            <a:off x="6239766" y="5544089"/>
            <a:ext cx="2505456" cy="522514"/>
          </a:xfrm>
          <a:prstGeom prst="rect">
            <a:avLst/>
          </a:prstGeom>
          <a:noFill/>
          <a:ln/>
        </p:spPr>
        <p:txBody>
          <a:bodyPr wrap="square" lIns="0" tIns="0" rIns="0" bIns="0" rtlCol="0" anchor="ctr">
            <a:noAutofit/>
          </a:bodyPr>
          <a:lstStyle/>
          <a:p>
            <a:pPr marL="0" indent="0">
              <a:buNone/>
            </a:pPr>
            <a:r>
              <a:rPr lang="en-US" sz="1400" dirty="0" err="1" smtClean="0">
                <a:solidFill>
                  <a:srgbClr val="FFFFFF"/>
                </a:solidFill>
                <a:latin typeface="Aptos" pitchFamily="34" charset="0"/>
                <a:ea typeface="Aptos" pitchFamily="34" charset="-122"/>
                <a:cs typeface="Aptos" pitchFamily="34" charset="-120"/>
              </a:rPr>
              <a:t>Código</a:t>
            </a:r>
            <a:r>
              <a:rPr lang="en-US" sz="1400" dirty="0" smtClean="0">
                <a:solidFill>
                  <a:srgbClr val="FFFFFF"/>
                </a:solidFill>
                <a:latin typeface="Aptos" pitchFamily="34" charset="0"/>
                <a:ea typeface="Aptos" pitchFamily="34" charset="-122"/>
                <a:cs typeface="Aptos" pitchFamily="34" charset="-120"/>
              </a:rPr>
              <a:t>:  preprocesamiento.py </a:t>
            </a:r>
            <a:endParaRPr lang="en-US" sz="1400" dirty="0"/>
          </a:p>
        </p:txBody>
      </p:sp>
      <p:sp>
        <p:nvSpPr>
          <p:cNvPr id="30" name="Shape 20"/>
          <p:cNvSpPr/>
          <p:nvPr/>
        </p:nvSpPr>
        <p:spPr>
          <a:xfrm>
            <a:off x="8855083" y="5372100"/>
            <a:ext cx="2666357" cy="812800"/>
          </a:xfrm>
          <a:prstGeom prst="roundRect">
            <a:avLst>
              <a:gd name="adj" fmla="val 10714"/>
            </a:avLst>
          </a:prstGeom>
          <a:solidFill>
            <a:srgbClr val="12223C"/>
          </a:solidFill>
          <a:ln w="3810">
            <a:solidFill>
              <a:srgbClr val="12223C"/>
            </a:solidFill>
            <a:prstDash val="solid"/>
          </a:ln>
        </p:spPr>
      </p:sp>
      <p:sp>
        <p:nvSpPr>
          <p:cNvPr id="31" name="Text 21"/>
          <p:cNvSpPr/>
          <p:nvPr/>
        </p:nvSpPr>
        <p:spPr>
          <a:xfrm>
            <a:off x="9400032" y="5517243"/>
            <a:ext cx="2505456" cy="522514"/>
          </a:xfrm>
          <a:prstGeom prst="rect">
            <a:avLst/>
          </a:prstGeom>
          <a:noFill/>
          <a:ln/>
        </p:spPr>
        <p:txBody>
          <a:bodyPr wrap="square" lIns="0" tIns="0" rIns="0" bIns="0" rtlCol="0" anchor="ctr">
            <a:noAutofit/>
          </a:bodyPr>
          <a:lstStyle/>
          <a:p>
            <a:pPr marL="0" indent="0">
              <a:buNone/>
            </a:pPr>
            <a:r>
              <a:rPr lang="en-US" sz="1400" dirty="0" err="1" smtClean="0">
                <a:solidFill>
                  <a:srgbClr val="FFFFFF"/>
                </a:solidFill>
                <a:latin typeface="Aptos" pitchFamily="34" charset="0"/>
                <a:ea typeface="Aptos" pitchFamily="34" charset="-122"/>
                <a:cs typeface="Aptos" pitchFamily="34" charset="-120"/>
              </a:rPr>
              <a:t>Código</a:t>
            </a:r>
            <a:r>
              <a:rPr lang="en-US" sz="1400" dirty="0" smtClean="0">
                <a:solidFill>
                  <a:srgbClr val="FFFFFF"/>
                </a:solidFill>
                <a:latin typeface="Aptos" pitchFamily="34" charset="0"/>
                <a:ea typeface="Aptos" pitchFamily="34" charset="-122"/>
                <a:cs typeface="Aptos" pitchFamily="34" charset="-120"/>
              </a:rPr>
              <a:t>:  cargross.py </a:t>
            </a:r>
            <a:endParaRPr lang="en-US" sz="1400" dirty="0"/>
          </a:p>
        </p:txBody>
      </p:sp>
    </p:spTree>
    <p:extLst>
      <p:ext uri="{BB962C8B-B14F-4D97-AF65-F5344CB8AC3E}">
        <p14:creationId xmlns:p14="http://schemas.microsoft.com/office/powerpoint/2010/main" val="36938753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oundRect">
            <a:avLst/>
          </a:prstGeom>
          <a:solidFill>
            <a:srgbClr val="00A5A8"/>
          </a:solidFill>
          <a:ln w="3810">
            <a:solidFill>
              <a:srgbClr val="00A5A8"/>
            </a:solidFill>
            <a:prstDash val="solid"/>
          </a:ln>
        </p:spPr>
      </p:sp>
      <p:sp>
        <p:nvSpPr>
          <p:cNvPr id="3" name="Text 1"/>
          <p:cNvSpPr/>
          <p:nvPr/>
        </p:nvSpPr>
        <p:spPr>
          <a:xfrm>
            <a:off x="594360" y="320040"/>
            <a:ext cx="10058400" cy="274320"/>
          </a:xfrm>
          <a:prstGeom prst="rect">
            <a:avLst/>
          </a:prstGeom>
          <a:noFill/>
          <a:ln/>
        </p:spPr>
        <p:txBody>
          <a:bodyPr wrap="square" lIns="0" tIns="0" rIns="0" bIns="0" rtlCol="0" anchor="ctr">
            <a:normAutofit/>
          </a:bodyPr>
          <a:lstStyle/>
          <a:p>
            <a:pPr marL="0" indent="0">
              <a:buNone/>
            </a:pPr>
            <a:r>
              <a:rPr lang="en-US" sz="1100" b="1" kern="0" spc="200" dirty="0">
                <a:solidFill>
                  <a:srgbClr val="00A5A8"/>
                </a:solidFill>
                <a:latin typeface="Aptos" pitchFamily="34" charset="0"/>
                <a:ea typeface="Aptos" pitchFamily="34" charset="-122"/>
                <a:cs typeface="Aptos" pitchFamily="34" charset="-120"/>
              </a:rPr>
              <a:t>CONTROL DE DATOS</a:t>
            </a:r>
            <a:endParaRPr lang="en-US" sz="1100" dirty="0"/>
          </a:p>
        </p:txBody>
      </p:sp>
      <p:sp>
        <p:nvSpPr>
          <p:cNvPr id="4" name="Text 2"/>
          <p:cNvSpPr/>
          <p:nvPr/>
        </p:nvSpPr>
        <p:spPr>
          <a:xfrm>
            <a:off x="594360" y="731520"/>
            <a:ext cx="10972800" cy="658368"/>
          </a:xfrm>
          <a:prstGeom prst="rect">
            <a:avLst/>
          </a:prstGeom>
          <a:noFill/>
          <a:ln/>
        </p:spPr>
        <p:txBody>
          <a:bodyPr wrap="square" lIns="0" tIns="0" rIns="0" bIns="0" rtlCol="0" anchor="ctr">
            <a:normAutofit/>
          </a:bodyPr>
          <a:lstStyle/>
          <a:p>
            <a:pPr marL="0" indent="0">
              <a:buNone/>
            </a:pPr>
            <a:r>
              <a:rPr lang="en-US" sz="2900" b="1" dirty="0">
                <a:solidFill>
                  <a:srgbClr val="12223C"/>
                </a:solidFill>
                <a:latin typeface="Aptos" pitchFamily="34" charset="0"/>
                <a:ea typeface="Aptos" pitchFamily="34" charset="-122"/>
                <a:cs typeface="Aptos" pitchFamily="34" charset="-120"/>
              </a:rPr>
              <a:t>Balanceo: no forzamos resultados</a:t>
            </a:r>
            <a:endParaRPr lang="en-US" sz="2900" dirty="0"/>
          </a:p>
        </p:txBody>
      </p:sp>
      <p:sp>
        <p:nvSpPr>
          <p:cNvPr id="5" name="Text 3"/>
          <p:cNvSpPr/>
          <p:nvPr/>
        </p:nvSpPr>
        <p:spPr>
          <a:xfrm>
            <a:off x="594360" y="6510528"/>
            <a:ext cx="8229600" cy="201168"/>
          </a:xfrm>
          <a:prstGeom prst="rect">
            <a:avLst/>
          </a:prstGeom>
          <a:noFill/>
          <a:ln/>
        </p:spPr>
        <p:txBody>
          <a:bodyPr wrap="square" lIns="0" tIns="0" rIns="0" bIns="0" rtlCol="0" anchor="ctr">
            <a:normAutofit/>
          </a:bodyPr>
          <a:lstStyle/>
          <a:p>
            <a:pPr marL="0" indent="0">
              <a:buNone/>
            </a:pPr>
            <a:r>
              <a:rPr lang="en-US" sz="1000" dirty="0">
                <a:solidFill>
                  <a:srgbClr val="607189"/>
                </a:solidFill>
                <a:latin typeface="Aptos" pitchFamily="34" charset="0"/>
                <a:ea typeface="Aptos" pitchFamily="34" charset="-122"/>
                <a:cs typeface="Aptos" pitchFamily="34" charset="-120"/>
              </a:rPr>
              <a:t>TFI · Inteligencia Artificial · UADER</a:t>
            </a:r>
            <a:endParaRPr lang="en-US" sz="1000" dirty="0"/>
          </a:p>
        </p:txBody>
      </p:sp>
      <p:sp>
        <p:nvSpPr>
          <p:cNvPr id="6" name="Text 4"/>
          <p:cNvSpPr/>
          <p:nvPr/>
        </p:nvSpPr>
        <p:spPr>
          <a:xfrm>
            <a:off x="11082528" y="6483096"/>
            <a:ext cx="502920" cy="228600"/>
          </a:xfrm>
          <a:prstGeom prst="rect">
            <a:avLst/>
          </a:prstGeom>
          <a:noFill/>
          <a:ln/>
        </p:spPr>
        <p:txBody>
          <a:bodyPr wrap="square" lIns="0" tIns="0" rIns="0" bIns="0" rtlCol="0" anchor="ctr">
            <a:normAutofit/>
          </a:bodyPr>
          <a:lstStyle/>
          <a:p>
            <a:pPr marL="0" indent="0" algn="r">
              <a:buNone/>
            </a:pPr>
            <a:r>
              <a:rPr lang="en-US" sz="1000" dirty="0">
                <a:solidFill>
                  <a:srgbClr val="607189"/>
                </a:solidFill>
                <a:latin typeface="Aptos" pitchFamily="34" charset="0"/>
                <a:ea typeface="Aptos" pitchFamily="34" charset="-122"/>
                <a:cs typeface="Aptos" pitchFamily="34" charset="-120"/>
              </a:rPr>
              <a:t>07</a:t>
            </a:r>
            <a:endParaRPr lang="en-US" sz="1000" dirty="0"/>
          </a:p>
        </p:txBody>
      </p:sp>
      <p:pic>
        <p:nvPicPr>
          <p:cNvPr id="7" name="Image 0" descr="/mnt/data/grafico_balanceo_actividad.png"/>
          <p:cNvPicPr>
            <a:picLocks noChangeAspect="1"/>
          </p:cNvPicPr>
          <p:nvPr/>
        </p:nvPicPr>
        <p:blipFill>
          <a:blip r:embed="rId3"/>
          <a:stretch>
            <a:fillRect/>
          </a:stretch>
        </p:blipFill>
        <p:spPr>
          <a:xfrm>
            <a:off x="685800" y="1600200"/>
            <a:ext cx="7635240" cy="4251960"/>
          </a:xfrm>
          <a:prstGeom prst="rect">
            <a:avLst/>
          </a:prstGeom>
        </p:spPr>
      </p:pic>
      <p:sp>
        <p:nvSpPr>
          <p:cNvPr id="8" name="Shape 5"/>
          <p:cNvSpPr/>
          <p:nvPr/>
        </p:nvSpPr>
        <p:spPr>
          <a:xfrm>
            <a:off x="8549640" y="1920240"/>
            <a:ext cx="2926080" cy="3200400"/>
          </a:xfrm>
          <a:prstGeom prst="roundRect">
            <a:avLst>
              <a:gd name="adj" fmla="val 4688"/>
            </a:avLst>
          </a:prstGeom>
          <a:solidFill>
            <a:srgbClr val="FFFFFF"/>
          </a:solidFill>
          <a:ln w="3810">
            <a:solidFill>
              <a:srgbClr val="FFFFFF"/>
            </a:solidFill>
            <a:prstDash val="solid"/>
          </a:ln>
        </p:spPr>
      </p:sp>
      <p:sp>
        <p:nvSpPr>
          <p:cNvPr id="9" name="Shape 6"/>
          <p:cNvSpPr/>
          <p:nvPr/>
        </p:nvSpPr>
        <p:spPr>
          <a:xfrm>
            <a:off x="8549640" y="1920240"/>
            <a:ext cx="68580" cy="3200400"/>
          </a:xfrm>
          <a:prstGeom prst="roundRect">
            <a:avLst/>
          </a:prstGeom>
          <a:solidFill>
            <a:srgbClr val="00A5A8"/>
          </a:solidFill>
          <a:ln w="3810">
            <a:solidFill>
              <a:srgbClr val="00A5A8"/>
            </a:solidFill>
            <a:prstDash val="solid"/>
          </a:ln>
        </p:spPr>
      </p:sp>
      <p:sp>
        <p:nvSpPr>
          <p:cNvPr id="10" name="Text 7"/>
          <p:cNvSpPr/>
          <p:nvPr/>
        </p:nvSpPr>
        <p:spPr>
          <a:xfrm>
            <a:off x="8759952" y="2103120"/>
            <a:ext cx="2514600" cy="347472"/>
          </a:xfrm>
          <a:prstGeom prst="rect">
            <a:avLst/>
          </a:prstGeom>
          <a:noFill/>
          <a:ln/>
        </p:spPr>
        <p:txBody>
          <a:bodyPr wrap="square" lIns="0" tIns="0" rIns="0" bIns="0" rtlCol="0" anchor="ctr">
            <a:normAutofit fontScale="85000" lnSpcReduction="10000"/>
          </a:bodyPr>
          <a:lstStyle/>
          <a:p>
            <a:pPr marL="0" indent="0">
              <a:buNone/>
            </a:pPr>
            <a:r>
              <a:rPr lang="en-US" sz="1700" b="1" dirty="0">
                <a:solidFill>
                  <a:srgbClr val="12223C"/>
                </a:solidFill>
                <a:latin typeface="Aptos" pitchFamily="34" charset="0"/>
                <a:ea typeface="Aptos" pitchFamily="34" charset="-122"/>
                <a:cs typeface="Aptos" pitchFamily="34" charset="-120"/>
              </a:rPr>
              <a:t>¿</a:t>
            </a:r>
            <a:r>
              <a:rPr lang="en-US" sz="1700" b="1" dirty="0" err="1">
                <a:solidFill>
                  <a:srgbClr val="12223C"/>
                </a:solidFill>
                <a:latin typeface="Aptos" pitchFamily="34" charset="0"/>
                <a:ea typeface="Aptos" pitchFamily="34" charset="-122"/>
                <a:cs typeface="Aptos" pitchFamily="34" charset="-120"/>
              </a:rPr>
              <a:t>Qué</a:t>
            </a:r>
            <a:r>
              <a:rPr lang="en-US" sz="1700" b="1" dirty="0">
                <a:solidFill>
                  <a:srgbClr val="12223C"/>
                </a:solidFill>
                <a:latin typeface="Aptos" pitchFamily="34" charset="0"/>
                <a:ea typeface="Aptos" pitchFamily="34" charset="-122"/>
                <a:cs typeface="Aptos" pitchFamily="34" charset="-120"/>
              </a:rPr>
              <a:t> </a:t>
            </a:r>
            <a:r>
              <a:rPr lang="en-US" sz="1700" b="1" dirty="0" err="1" smtClean="0">
                <a:solidFill>
                  <a:srgbClr val="12223C"/>
                </a:solidFill>
                <a:latin typeface="Aptos" pitchFamily="34" charset="0"/>
                <a:ea typeface="Aptos" pitchFamily="34" charset="-122"/>
                <a:cs typeface="Aptos" pitchFamily="34" charset="-120"/>
              </a:rPr>
              <a:t>verificamos</a:t>
            </a:r>
            <a:r>
              <a:rPr lang="en-US" sz="1700" b="1" dirty="0" smtClean="0">
                <a:solidFill>
                  <a:srgbClr val="12223C"/>
                </a:solidFill>
                <a:latin typeface="Aptos" pitchFamily="34" charset="0"/>
                <a:ea typeface="Aptos" pitchFamily="34" charset="-122"/>
                <a:cs typeface="Aptos" pitchFamily="34" charset="-120"/>
              </a:rPr>
              <a:t> con </a:t>
            </a:r>
            <a:r>
              <a:rPr lang="en-US" sz="1700" b="1" dirty="0" err="1" smtClean="0">
                <a:solidFill>
                  <a:srgbClr val="12223C"/>
                </a:solidFill>
                <a:latin typeface="Aptos" pitchFamily="34" charset="0"/>
                <a:ea typeface="Aptos" pitchFamily="34" charset="-122"/>
                <a:cs typeface="Aptos" pitchFamily="34" charset="-120"/>
              </a:rPr>
              <a:t>esto</a:t>
            </a:r>
            <a:r>
              <a:rPr lang="en-US" sz="1700" b="1" dirty="0" smtClean="0">
                <a:solidFill>
                  <a:srgbClr val="12223C"/>
                </a:solidFill>
                <a:latin typeface="Aptos" pitchFamily="34" charset="0"/>
                <a:ea typeface="Aptos" pitchFamily="34" charset="-122"/>
                <a:cs typeface="Aptos" pitchFamily="34" charset="-120"/>
              </a:rPr>
              <a:t>?</a:t>
            </a:r>
            <a:endParaRPr lang="en-US" sz="1700" dirty="0"/>
          </a:p>
        </p:txBody>
      </p:sp>
      <p:sp>
        <p:nvSpPr>
          <p:cNvPr id="11" name="Text 8"/>
          <p:cNvSpPr/>
          <p:nvPr/>
        </p:nvSpPr>
        <p:spPr>
          <a:xfrm>
            <a:off x="8759952" y="2606040"/>
            <a:ext cx="2487168" cy="2331720"/>
          </a:xfrm>
          <a:prstGeom prst="rect">
            <a:avLst/>
          </a:prstGeom>
          <a:noFill/>
          <a:ln/>
        </p:spPr>
        <p:txBody>
          <a:bodyPr wrap="square" lIns="0" tIns="0" rIns="0" bIns="0" rtlCol="0" anchor="t">
            <a:normAutofit/>
          </a:bodyPr>
          <a:lstStyle/>
          <a:p>
            <a:pPr marL="0" indent="0">
              <a:buNone/>
            </a:pPr>
            <a:r>
              <a:rPr lang="en-US" sz="1400" dirty="0">
                <a:solidFill>
                  <a:srgbClr val="20324B"/>
                </a:solidFill>
                <a:latin typeface="Aptos" pitchFamily="34" charset="0"/>
                <a:ea typeface="Aptos" pitchFamily="34" charset="-122"/>
                <a:cs typeface="Aptos" pitchFamily="34" charset="-120"/>
              </a:rPr>
              <a:t>Después del filtro, la diferencia entre mujeres y hombres es de 1 a 5 registros por actividad. El balanceo mejora la comparabilidad, pero no garantiza ausencia de </a:t>
            </a:r>
            <a:r>
              <a:rPr lang="en-US" sz="1400" dirty="0" err="1">
                <a:solidFill>
                  <a:srgbClr val="20324B"/>
                </a:solidFill>
                <a:latin typeface="Aptos" pitchFamily="34" charset="0"/>
                <a:ea typeface="Aptos" pitchFamily="34" charset="-122"/>
                <a:cs typeface="Aptos" pitchFamily="34" charset="-120"/>
              </a:rPr>
              <a:t>sesgos</a:t>
            </a:r>
            <a:r>
              <a:rPr lang="en-US" sz="1400" dirty="0" smtClean="0">
                <a:solidFill>
                  <a:srgbClr val="20324B"/>
                </a:solidFill>
                <a:latin typeface="Aptos" pitchFamily="34" charset="0"/>
                <a:ea typeface="Aptos" pitchFamily="34" charset="-122"/>
                <a:cs typeface="Aptos" pitchFamily="34" charset="-120"/>
              </a:rPr>
              <a:t>.</a:t>
            </a:r>
          </a:p>
          <a:p>
            <a:pPr marL="0" indent="0">
              <a:buNone/>
            </a:pPr>
            <a:endParaRPr lang="es-ES" sz="1400" dirty="0">
              <a:solidFill>
                <a:srgbClr val="20324B"/>
              </a:solidFill>
              <a:latin typeface="Aptos" pitchFamily="34" charset="0"/>
              <a:ea typeface="Aptos" pitchFamily="34" charset="-122"/>
            </a:endParaRPr>
          </a:p>
          <a:p>
            <a:pPr marL="0" indent="0">
              <a:buNone/>
            </a:pPr>
            <a:endParaRPr lang="en-US" sz="1400" dirty="0"/>
          </a:p>
        </p:txBody>
      </p:sp>
      <p:sp>
        <p:nvSpPr>
          <p:cNvPr id="13" name="Shape 20"/>
          <p:cNvSpPr/>
          <p:nvPr/>
        </p:nvSpPr>
        <p:spPr>
          <a:xfrm>
            <a:off x="8713791" y="4505804"/>
            <a:ext cx="2666357" cy="614836"/>
          </a:xfrm>
          <a:prstGeom prst="roundRect">
            <a:avLst>
              <a:gd name="adj" fmla="val 10714"/>
            </a:avLst>
          </a:prstGeom>
          <a:solidFill>
            <a:srgbClr val="12223C"/>
          </a:solidFill>
          <a:ln w="3810">
            <a:solidFill>
              <a:srgbClr val="12223C"/>
            </a:solidFill>
            <a:prstDash val="solid"/>
          </a:ln>
        </p:spPr>
      </p:sp>
      <p:sp>
        <p:nvSpPr>
          <p:cNvPr id="14" name="Text 21"/>
          <p:cNvSpPr/>
          <p:nvPr/>
        </p:nvSpPr>
        <p:spPr>
          <a:xfrm>
            <a:off x="8841808" y="4633066"/>
            <a:ext cx="2505456" cy="395251"/>
          </a:xfrm>
          <a:prstGeom prst="rect">
            <a:avLst/>
          </a:prstGeom>
          <a:noFill/>
          <a:ln/>
        </p:spPr>
        <p:txBody>
          <a:bodyPr wrap="square" lIns="0" tIns="0" rIns="0" bIns="0" rtlCol="0" anchor="ctr">
            <a:noAutofit/>
          </a:bodyPr>
          <a:lstStyle/>
          <a:p>
            <a:pPr marL="0" indent="0">
              <a:buNone/>
            </a:pPr>
            <a:r>
              <a:rPr lang="en-US" sz="1400" dirty="0" err="1" smtClean="0">
                <a:solidFill>
                  <a:srgbClr val="FFFFFF"/>
                </a:solidFill>
                <a:latin typeface="Aptos" pitchFamily="34" charset="0"/>
                <a:ea typeface="Aptos" pitchFamily="34" charset="-122"/>
                <a:cs typeface="Aptos" pitchFamily="34" charset="-120"/>
              </a:rPr>
              <a:t>Código</a:t>
            </a:r>
            <a:r>
              <a:rPr lang="en-US" sz="1400" dirty="0" smtClean="0">
                <a:solidFill>
                  <a:srgbClr val="FFFFFF"/>
                </a:solidFill>
                <a:latin typeface="Aptos" pitchFamily="34" charset="0"/>
                <a:ea typeface="Aptos" pitchFamily="34" charset="-122"/>
                <a:cs typeface="Aptos" pitchFamily="34" charset="-120"/>
              </a:rPr>
              <a:t>:  analizar_balance.py </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oundRect">
            <a:avLst/>
          </a:prstGeom>
          <a:solidFill>
            <a:srgbClr val="00A5A8"/>
          </a:solidFill>
          <a:ln w="3810">
            <a:solidFill>
              <a:srgbClr val="00A5A8"/>
            </a:solidFill>
            <a:prstDash val="solid"/>
          </a:ln>
        </p:spPr>
      </p:sp>
      <p:sp>
        <p:nvSpPr>
          <p:cNvPr id="3" name="Text 1"/>
          <p:cNvSpPr/>
          <p:nvPr/>
        </p:nvSpPr>
        <p:spPr>
          <a:xfrm>
            <a:off x="594360" y="320040"/>
            <a:ext cx="10058400" cy="274320"/>
          </a:xfrm>
          <a:prstGeom prst="rect">
            <a:avLst/>
          </a:prstGeom>
          <a:noFill/>
          <a:ln/>
        </p:spPr>
        <p:txBody>
          <a:bodyPr wrap="square" lIns="0" tIns="0" rIns="0" bIns="0" rtlCol="0" anchor="ctr">
            <a:normAutofit/>
          </a:bodyPr>
          <a:lstStyle/>
          <a:p>
            <a:pPr marL="0" indent="0">
              <a:buNone/>
            </a:pPr>
            <a:r>
              <a:rPr lang="en-US" sz="1100" b="1" kern="0" spc="200" dirty="0">
                <a:solidFill>
                  <a:srgbClr val="00A5A8"/>
                </a:solidFill>
                <a:latin typeface="Aptos" pitchFamily="34" charset="0"/>
                <a:ea typeface="Aptos" pitchFamily="34" charset="-122"/>
                <a:cs typeface="Aptos" pitchFamily="34" charset="-120"/>
              </a:rPr>
              <a:t>RESULTADOS DE LAS 14 CORRIDAS</a:t>
            </a:r>
            <a:endParaRPr lang="en-US" sz="1100" dirty="0"/>
          </a:p>
        </p:txBody>
      </p:sp>
      <p:sp>
        <p:nvSpPr>
          <p:cNvPr id="4" name="Text 2"/>
          <p:cNvSpPr/>
          <p:nvPr/>
        </p:nvSpPr>
        <p:spPr>
          <a:xfrm>
            <a:off x="594360" y="731520"/>
            <a:ext cx="10972800" cy="658368"/>
          </a:xfrm>
          <a:prstGeom prst="rect">
            <a:avLst/>
          </a:prstGeom>
          <a:noFill/>
          <a:ln/>
        </p:spPr>
        <p:txBody>
          <a:bodyPr wrap="square" lIns="0" tIns="0" rIns="0" bIns="0" rtlCol="0" anchor="ctr">
            <a:normAutofit/>
          </a:bodyPr>
          <a:lstStyle/>
          <a:p>
            <a:pPr marL="0" indent="0">
              <a:buNone/>
            </a:pPr>
            <a:r>
              <a:rPr lang="en-US" sz="2900" b="1" dirty="0">
                <a:solidFill>
                  <a:srgbClr val="12223C"/>
                </a:solidFill>
                <a:latin typeface="Aptos" pitchFamily="34" charset="0"/>
                <a:ea typeface="Aptos" pitchFamily="34" charset="-122"/>
                <a:cs typeface="Aptos" pitchFamily="34" charset="-120"/>
              </a:rPr>
              <a:t>Qué ocurre al aumentar la vigilancia</a:t>
            </a:r>
            <a:endParaRPr lang="en-US" sz="2900" dirty="0"/>
          </a:p>
        </p:txBody>
      </p:sp>
      <p:sp>
        <p:nvSpPr>
          <p:cNvPr id="5" name="Text 3"/>
          <p:cNvSpPr/>
          <p:nvPr/>
        </p:nvSpPr>
        <p:spPr>
          <a:xfrm>
            <a:off x="594360" y="6510528"/>
            <a:ext cx="8229600" cy="201168"/>
          </a:xfrm>
          <a:prstGeom prst="rect">
            <a:avLst/>
          </a:prstGeom>
          <a:noFill/>
          <a:ln/>
        </p:spPr>
        <p:txBody>
          <a:bodyPr wrap="square" lIns="0" tIns="0" rIns="0" bIns="0" rtlCol="0" anchor="ctr">
            <a:normAutofit/>
          </a:bodyPr>
          <a:lstStyle/>
          <a:p>
            <a:pPr marL="0" indent="0">
              <a:buNone/>
            </a:pPr>
            <a:r>
              <a:rPr lang="en-US" sz="1000" dirty="0">
                <a:solidFill>
                  <a:srgbClr val="607189"/>
                </a:solidFill>
                <a:latin typeface="Aptos" pitchFamily="34" charset="0"/>
                <a:ea typeface="Aptos" pitchFamily="34" charset="-122"/>
                <a:cs typeface="Aptos" pitchFamily="34" charset="-120"/>
              </a:rPr>
              <a:t>TFI · Inteligencia Artificial · UADER</a:t>
            </a:r>
            <a:endParaRPr lang="en-US" sz="1000" dirty="0"/>
          </a:p>
        </p:txBody>
      </p:sp>
      <p:sp>
        <p:nvSpPr>
          <p:cNvPr id="6" name="Text 4"/>
          <p:cNvSpPr/>
          <p:nvPr/>
        </p:nvSpPr>
        <p:spPr>
          <a:xfrm>
            <a:off x="11082528" y="6483096"/>
            <a:ext cx="502920" cy="228600"/>
          </a:xfrm>
          <a:prstGeom prst="rect">
            <a:avLst/>
          </a:prstGeom>
          <a:noFill/>
          <a:ln/>
        </p:spPr>
        <p:txBody>
          <a:bodyPr wrap="square" lIns="0" tIns="0" rIns="0" bIns="0" rtlCol="0" anchor="ctr">
            <a:normAutofit/>
          </a:bodyPr>
          <a:lstStyle/>
          <a:p>
            <a:pPr marL="0" indent="0" algn="r">
              <a:buNone/>
            </a:pPr>
            <a:r>
              <a:rPr lang="en-US" sz="1000" dirty="0">
                <a:solidFill>
                  <a:srgbClr val="607189"/>
                </a:solidFill>
                <a:latin typeface="Aptos" pitchFamily="34" charset="0"/>
                <a:ea typeface="Aptos" pitchFamily="34" charset="-122"/>
                <a:cs typeface="Aptos" pitchFamily="34" charset="-120"/>
              </a:rPr>
              <a:t>09</a:t>
            </a:r>
            <a:endParaRPr lang="en-US" sz="1000" dirty="0"/>
          </a:p>
        </p:txBody>
      </p:sp>
      <p:pic>
        <p:nvPicPr>
          <p:cNvPr id="7" name="Image 0" descr="/mnt/data/grafico_coherencia.png"/>
          <p:cNvPicPr>
            <a:picLocks noChangeAspect="1"/>
          </p:cNvPicPr>
          <p:nvPr/>
        </p:nvPicPr>
        <p:blipFill>
          <a:blip r:embed="rId3"/>
          <a:stretch>
            <a:fillRect/>
          </a:stretch>
        </p:blipFill>
        <p:spPr>
          <a:xfrm>
            <a:off x="594361" y="1536192"/>
            <a:ext cx="5831840" cy="3491430"/>
          </a:xfrm>
          <a:prstGeom prst="rect">
            <a:avLst/>
          </a:prstGeom>
        </p:spPr>
      </p:pic>
      <p:pic>
        <p:nvPicPr>
          <p:cNvPr id="8" name="Image 1" descr="/mnt/data/grafico_fragmentacion_femenino.png"/>
          <p:cNvPicPr>
            <a:picLocks noChangeAspect="1"/>
          </p:cNvPicPr>
          <p:nvPr/>
        </p:nvPicPr>
        <p:blipFill rotWithShape="1">
          <a:blip r:embed="rId4"/>
          <a:srcRect b="3408"/>
          <a:stretch/>
        </p:blipFill>
        <p:spPr>
          <a:xfrm>
            <a:off x="6547837" y="1527048"/>
            <a:ext cx="5019323" cy="3489452"/>
          </a:xfrm>
          <a:prstGeom prst="rect">
            <a:avLst/>
          </a:prstGeom>
        </p:spPr>
      </p:pic>
      <p:sp>
        <p:nvSpPr>
          <p:cNvPr id="9" name="Text 5"/>
          <p:cNvSpPr/>
          <p:nvPr/>
        </p:nvSpPr>
        <p:spPr>
          <a:xfrm>
            <a:off x="1915160" y="5553202"/>
            <a:ext cx="8384540" cy="365760"/>
          </a:xfrm>
          <a:prstGeom prst="rect">
            <a:avLst/>
          </a:prstGeom>
          <a:noFill/>
          <a:ln/>
        </p:spPr>
        <p:txBody>
          <a:bodyPr wrap="square" lIns="0" tIns="0" rIns="0" bIns="0" rtlCol="0" anchor="ctr">
            <a:normAutofit/>
          </a:bodyPr>
          <a:lstStyle/>
          <a:p>
            <a:pPr marL="0" indent="0">
              <a:buNone/>
            </a:pPr>
            <a:r>
              <a:rPr lang="en-US" sz="1800" b="1" dirty="0">
                <a:solidFill>
                  <a:srgbClr val="315E9B"/>
                </a:solidFill>
                <a:latin typeface="Aptos" pitchFamily="34" charset="0"/>
                <a:ea typeface="Aptos" pitchFamily="34" charset="-122"/>
                <a:cs typeface="Aptos" pitchFamily="34" charset="-120"/>
              </a:rPr>
              <a:t>Mayor vigilancia → más homogeneidad, pero también grupos más pequeños.</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oundRect">
            <a:avLst/>
          </a:prstGeom>
          <a:solidFill>
            <a:srgbClr val="00A5A8"/>
          </a:solidFill>
          <a:ln w="3810">
            <a:solidFill>
              <a:srgbClr val="00A5A8"/>
            </a:solidFill>
            <a:prstDash val="solid"/>
          </a:ln>
        </p:spPr>
      </p:sp>
      <p:sp>
        <p:nvSpPr>
          <p:cNvPr id="3" name="Text 1"/>
          <p:cNvSpPr/>
          <p:nvPr/>
        </p:nvSpPr>
        <p:spPr>
          <a:xfrm>
            <a:off x="594360" y="320040"/>
            <a:ext cx="10058400" cy="274320"/>
          </a:xfrm>
          <a:prstGeom prst="rect">
            <a:avLst/>
          </a:prstGeom>
          <a:noFill/>
          <a:ln/>
        </p:spPr>
        <p:txBody>
          <a:bodyPr wrap="square" lIns="0" tIns="0" rIns="0" bIns="0" rtlCol="0" anchor="ctr">
            <a:normAutofit/>
          </a:bodyPr>
          <a:lstStyle/>
          <a:p>
            <a:pPr marL="0" indent="0">
              <a:buNone/>
            </a:pPr>
            <a:r>
              <a:rPr lang="en-US" sz="1100" b="1" kern="0" spc="200" dirty="0">
                <a:solidFill>
                  <a:srgbClr val="00A5A8"/>
                </a:solidFill>
                <a:latin typeface="Aptos" pitchFamily="34" charset="0"/>
                <a:ea typeface="Aptos" pitchFamily="34" charset="-122"/>
                <a:cs typeface="Aptos" pitchFamily="34" charset="-120"/>
              </a:rPr>
              <a:t>PARÁMETROS DE LA RED</a:t>
            </a:r>
            <a:endParaRPr lang="en-US" sz="1100" dirty="0"/>
          </a:p>
        </p:txBody>
      </p:sp>
      <p:sp>
        <p:nvSpPr>
          <p:cNvPr id="4" name="Text 2"/>
          <p:cNvSpPr/>
          <p:nvPr/>
        </p:nvSpPr>
        <p:spPr>
          <a:xfrm>
            <a:off x="594360" y="731520"/>
            <a:ext cx="10972800" cy="658368"/>
          </a:xfrm>
          <a:prstGeom prst="rect">
            <a:avLst/>
          </a:prstGeom>
          <a:noFill/>
          <a:ln/>
        </p:spPr>
        <p:txBody>
          <a:bodyPr wrap="square" lIns="0" tIns="0" rIns="0" bIns="0" rtlCol="0" anchor="ctr">
            <a:normAutofit/>
          </a:bodyPr>
          <a:lstStyle/>
          <a:p>
            <a:pPr marL="0" indent="0">
              <a:buNone/>
            </a:pPr>
            <a:r>
              <a:rPr lang="en-US" sz="2900" b="1" dirty="0">
                <a:solidFill>
                  <a:srgbClr val="12223C"/>
                </a:solidFill>
                <a:latin typeface="Aptos" pitchFamily="34" charset="0"/>
                <a:ea typeface="Aptos" pitchFamily="34" charset="-122"/>
                <a:cs typeface="Aptos" pitchFamily="34" charset="-120"/>
              </a:rPr>
              <a:t>Configuración y experimentación</a:t>
            </a:r>
            <a:endParaRPr lang="en-US" sz="2900" dirty="0"/>
          </a:p>
        </p:txBody>
      </p:sp>
      <p:sp>
        <p:nvSpPr>
          <p:cNvPr id="5" name="Text 3"/>
          <p:cNvSpPr/>
          <p:nvPr/>
        </p:nvSpPr>
        <p:spPr>
          <a:xfrm>
            <a:off x="594360" y="6510528"/>
            <a:ext cx="8229600" cy="201168"/>
          </a:xfrm>
          <a:prstGeom prst="rect">
            <a:avLst/>
          </a:prstGeom>
          <a:noFill/>
          <a:ln/>
        </p:spPr>
        <p:txBody>
          <a:bodyPr wrap="square" lIns="0" tIns="0" rIns="0" bIns="0" rtlCol="0" anchor="ctr">
            <a:normAutofit/>
          </a:bodyPr>
          <a:lstStyle/>
          <a:p>
            <a:pPr marL="0" indent="0">
              <a:buNone/>
            </a:pPr>
            <a:r>
              <a:rPr lang="en-US" sz="1000" dirty="0">
                <a:solidFill>
                  <a:srgbClr val="607189"/>
                </a:solidFill>
                <a:latin typeface="Aptos" pitchFamily="34" charset="0"/>
                <a:ea typeface="Aptos" pitchFamily="34" charset="-122"/>
                <a:cs typeface="Aptos" pitchFamily="34" charset="-120"/>
              </a:rPr>
              <a:t>TFI · Inteligencia Artificial · UADER</a:t>
            </a:r>
            <a:endParaRPr lang="en-US" sz="1000" dirty="0"/>
          </a:p>
        </p:txBody>
      </p:sp>
      <p:sp>
        <p:nvSpPr>
          <p:cNvPr id="6" name="Text 4"/>
          <p:cNvSpPr/>
          <p:nvPr/>
        </p:nvSpPr>
        <p:spPr>
          <a:xfrm>
            <a:off x="11082528" y="6483096"/>
            <a:ext cx="502920" cy="228600"/>
          </a:xfrm>
          <a:prstGeom prst="rect">
            <a:avLst/>
          </a:prstGeom>
          <a:noFill/>
          <a:ln/>
        </p:spPr>
        <p:txBody>
          <a:bodyPr wrap="square" lIns="0" tIns="0" rIns="0" bIns="0" rtlCol="0" anchor="ctr">
            <a:normAutofit/>
          </a:bodyPr>
          <a:lstStyle/>
          <a:p>
            <a:pPr marL="0" indent="0" algn="r">
              <a:buNone/>
            </a:pPr>
            <a:r>
              <a:rPr lang="en-US" sz="1000" dirty="0">
                <a:solidFill>
                  <a:srgbClr val="607189"/>
                </a:solidFill>
                <a:latin typeface="Aptos" pitchFamily="34" charset="0"/>
                <a:ea typeface="Aptos" pitchFamily="34" charset="-122"/>
                <a:cs typeface="Aptos" pitchFamily="34" charset="-120"/>
              </a:rPr>
              <a:t>08</a:t>
            </a:r>
            <a:endParaRPr lang="en-US" sz="1000" dirty="0"/>
          </a:p>
        </p:txBody>
      </p:sp>
      <p:sp>
        <p:nvSpPr>
          <p:cNvPr id="7" name="Shape 5"/>
          <p:cNvSpPr/>
          <p:nvPr/>
        </p:nvSpPr>
        <p:spPr>
          <a:xfrm>
            <a:off x="667512" y="1664208"/>
            <a:ext cx="3429000" cy="2286000"/>
          </a:xfrm>
          <a:prstGeom prst="roundRect">
            <a:avLst>
              <a:gd name="adj" fmla="val 6000"/>
            </a:avLst>
          </a:prstGeom>
          <a:solidFill>
            <a:srgbClr val="FFFFFF"/>
          </a:solidFill>
          <a:ln w="3810">
            <a:solidFill>
              <a:srgbClr val="FFFFFF"/>
            </a:solidFill>
            <a:prstDash val="solid"/>
          </a:ln>
        </p:spPr>
      </p:sp>
      <p:sp>
        <p:nvSpPr>
          <p:cNvPr id="8" name="Shape 6"/>
          <p:cNvSpPr/>
          <p:nvPr/>
        </p:nvSpPr>
        <p:spPr>
          <a:xfrm>
            <a:off x="667512" y="1664208"/>
            <a:ext cx="68580" cy="2286000"/>
          </a:xfrm>
          <a:prstGeom prst="roundRect">
            <a:avLst/>
          </a:prstGeom>
          <a:solidFill>
            <a:srgbClr val="315E9B"/>
          </a:solidFill>
          <a:ln w="3810">
            <a:solidFill>
              <a:srgbClr val="315E9B"/>
            </a:solidFill>
            <a:prstDash val="solid"/>
          </a:ln>
        </p:spPr>
      </p:sp>
      <p:sp>
        <p:nvSpPr>
          <p:cNvPr id="9" name="Text 7"/>
          <p:cNvSpPr/>
          <p:nvPr/>
        </p:nvSpPr>
        <p:spPr>
          <a:xfrm>
            <a:off x="877824" y="1847088"/>
            <a:ext cx="3017520" cy="347472"/>
          </a:xfrm>
          <a:prstGeom prst="rect">
            <a:avLst/>
          </a:prstGeom>
          <a:noFill/>
          <a:ln/>
        </p:spPr>
        <p:txBody>
          <a:bodyPr wrap="square" lIns="0" tIns="0" rIns="0" bIns="0" rtlCol="0" anchor="ctr">
            <a:normAutofit/>
          </a:bodyPr>
          <a:lstStyle/>
          <a:p>
            <a:pPr marL="0" indent="0">
              <a:buNone/>
            </a:pPr>
            <a:r>
              <a:rPr lang="en-US" sz="1700" b="1" dirty="0">
                <a:solidFill>
                  <a:srgbClr val="12223C"/>
                </a:solidFill>
                <a:latin typeface="Aptos" pitchFamily="34" charset="0"/>
                <a:ea typeface="Aptos" pitchFamily="34" charset="-122"/>
                <a:cs typeface="Aptos" pitchFamily="34" charset="-120"/>
              </a:rPr>
              <a:t>Vigilancia · ρ</a:t>
            </a:r>
            <a:endParaRPr lang="en-US" sz="1700" dirty="0"/>
          </a:p>
        </p:txBody>
      </p:sp>
      <p:sp>
        <p:nvSpPr>
          <p:cNvPr id="10" name="Text 8"/>
          <p:cNvSpPr/>
          <p:nvPr/>
        </p:nvSpPr>
        <p:spPr>
          <a:xfrm>
            <a:off x="877824" y="2350008"/>
            <a:ext cx="2990088" cy="1417320"/>
          </a:xfrm>
          <a:prstGeom prst="rect">
            <a:avLst/>
          </a:prstGeom>
          <a:noFill/>
          <a:ln/>
        </p:spPr>
        <p:txBody>
          <a:bodyPr wrap="square" lIns="0" tIns="0" rIns="0" bIns="0" rtlCol="0" anchor="t">
            <a:normAutofit/>
          </a:bodyPr>
          <a:lstStyle/>
          <a:p>
            <a:pPr marL="0" indent="0">
              <a:buNone/>
            </a:pPr>
            <a:r>
              <a:rPr lang="en-US" sz="1400" dirty="0">
                <a:solidFill>
                  <a:srgbClr val="20324B"/>
                </a:solidFill>
                <a:latin typeface="Aptos" pitchFamily="34" charset="0"/>
                <a:ea typeface="Aptos" pitchFamily="34" charset="-122"/>
                <a:cs typeface="Aptos" pitchFamily="34" charset="-120"/>
              </a:rPr>
              <a:t>0,70 en la corrida principal. Define el match mínimo para aceptar un perfil.</a:t>
            </a:r>
            <a:endParaRPr lang="en-US" sz="1400" dirty="0"/>
          </a:p>
        </p:txBody>
      </p:sp>
      <p:sp>
        <p:nvSpPr>
          <p:cNvPr id="11" name="Shape 9"/>
          <p:cNvSpPr/>
          <p:nvPr/>
        </p:nvSpPr>
        <p:spPr>
          <a:xfrm>
            <a:off x="4370832" y="1664208"/>
            <a:ext cx="3429000" cy="2286000"/>
          </a:xfrm>
          <a:prstGeom prst="roundRect">
            <a:avLst>
              <a:gd name="adj" fmla="val 6000"/>
            </a:avLst>
          </a:prstGeom>
          <a:solidFill>
            <a:srgbClr val="FFFFFF"/>
          </a:solidFill>
          <a:ln w="3810">
            <a:solidFill>
              <a:srgbClr val="FFFFFF"/>
            </a:solidFill>
            <a:prstDash val="solid"/>
          </a:ln>
        </p:spPr>
      </p:sp>
      <p:sp>
        <p:nvSpPr>
          <p:cNvPr id="12" name="Shape 10"/>
          <p:cNvSpPr/>
          <p:nvPr/>
        </p:nvSpPr>
        <p:spPr>
          <a:xfrm>
            <a:off x="4370832" y="1664208"/>
            <a:ext cx="68580" cy="2286000"/>
          </a:xfrm>
          <a:prstGeom prst="roundRect">
            <a:avLst/>
          </a:prstGeom>
          <a:solidFill>
            <a:srgbClr val="315E9B"/>
          </a:solidFill>
          <a:ln w="3810">
            <a:solidFill>
              <a:srgbClr val="315E9B"/>
            </a:solidFill>
            <a:prstDash val="solid"/>
          </a:ln>
        </p:spPr>
      </p:sp>
      <p:sp>
        <p:nvSpPr>
          <p:cNvPr id="13" name="Text 11"/>
          <p:cNvSpPr/>
          <p:nvPr/>
        </p:nvSpPr>
        <p:spPr>
          <a:xfrm>
            <a:off x="4581144" y="1847088"/>
            <a:ext cx="3017520" cy="347472"/>
          </a:xfrm>
          <a:prstGeom prst="rect">
            <a:avLst/>
          </a:prstGeom>
          <a:noFill/>
          <a:ln/>
        </p:spPr>
        <p:txBody>
          <a:bodyPr wrap="square" lIns="0" tIns="0" rIns="0" bIns="0" rtlCol="0" anchor="ctr">
            <a:normAutofit/>
          </a:bodyPr>
          <a:lstStyle/>
          <a:p>
            <a:pPr marL="0" indent="0">
              <a:buNone/>
            </a:pPr>
            <a:r>
              <a:rPr lang="en-US" sz="1700" b="1" dirty="0">
                <a:solidFill>
                  <a:srgbClr val="12223C"/>
                </a:solidFill>
                <a:latin typeface="Aptos" pitchFamily="34" charset="0"/>
                <a:ea typeface="Aptos" pitchFamily="34" charset="-122"/>
                <a:cs typeface="Aptos" pitchFamily="34" charset="-120"/>
              </a:rPr>
              <a:t>Alpha · α</a:t>
            </a:r>
            <a:endParaRPr lang="en-US" sz="1700" dirty="0"/>
          </a:p>
        </p:txBody>
      </p:sp>
      <p:sp>
        <p:nvSpPr>
          <p:cNvPr id="14" name="Text 12"/>
          <p:cNvSpPr/>
          <p:nvPr/>
        </p:nvSpPr>
        <p:spPr>
          <a:xfrm>
            <a:off x="4581144" y="2350008"/>
            <a:ext cx="2990088" cy="1417320"/>
          </a:xfrm>
          <a:prstGeom prst="rect">
            <a:avLst/>
          </a:prstGeom>
          <a:noFill/>
          <a:ln/>
        </p:spPr>
        <p:txBody>
          <a:bodyPr wrap="square" lIns="0" tIns="0" rIns="0" bIns="0" rtlCol="0" anchor="t">
            <a:normAutofit/>
          </a:bodyPr>
          <a:lstStyle/>
          <a:p>
            <a:pPr marL="0" indent="0">
              <a:buNone/>
            </a:pPr>
            <a:r>
              <a:rPr lang="en-US" sz="1400" dirty="0">
                <a:solidFill>
                  <a:srgbClr val="20324B"/>
                </a:solidFill>
                <a:latin typeface="Aptos" pitchFamily="34" charset="0"/>
                <a:ea typeface="Aptos" pitchFamily="34" charset="-122"/>
                <a:cs typeface="Aptos" pitchFamily="34" charset="-120"/>
              </a:rPr>
              <a:t>0,001. Interviene en la función de elección.</a:t>
            </a:r>
            <a:endParaRPr lang="en-US" sz="1400" dirty="0"/>
          </a:p>
        </p:txBody>
      </p:sp>
      <p:sp>
        <p:nvSpPr>
          <p:cNvPr id="15" name="Shape 13"/>
          <p:cNvSpPr/>
          <p:nvPr/>
        </p:nvSpPr>
        <p:spPr>
          <a:xfrm>
            <a:off x="8074152" y="1664208"/>
            <a:ext cx="3429000" cy="2286000"/>
          </a:xfrm>
          <a:prstGeom prst="roundRect">
            <a:avLst>
              <a:gd name="adj" fmla="val 6000"/>
            </a:avLst>
          </a:prstGeom>
          <a:solidFill>
            <a:srgbClr val="FFFFFF"/>
          </a:solidFill>
          <a:ln w="3810">
            <a:solidFill>
              <a:srgbClr val="FFFFFF"/>
            </a:solidFill>
            <a:prstDash val="solid"/>
          </a:ln>
        </p:spPr>
      </p:sp>
      <p:sp>
        <p:nvSpPr>
          <p:cNvPr id="16" name="Shape 14"/>
          <p:cNvSpPr/>
          <p:nvPr/>
        </p:nvSpPr>
        <p:spPr>
          <a:xfrm>
            <a:off x="8074152" y="1664208"/>
            <a:ext cx="68580" cy="2286000"/>
          </a:xfrm>
          <a:prstGeom prst="roundRect">
            <a:avLst/>
          </a:prstGeom>
          <a:solidFill>
            <a:srgbClr val="00A5A8"/>
          </a:solidFill>
          <a:ln w="3810">
            <a:solidFill>
              <a:srgbClr val="00A5A8"/>
            </a:solidFill>
            <a:prstDash val="solid"/>
          </a:ln>
        </p:spPr>
      </p:sp>
      <p:sp>
        <p:nvSpPr>
          <p:cNvPr id="17" name="Text 15"/>
          <p:cNvSpPr/>
          <p:nvPr/>
        </p:nvSpPr>
        <p:spPr>
          <a:xfrm>
            <a:off x="8284464" y="1847088"/>
            <a:ext cx="3017520" cy="347472"/>
          </a:xfrm>
          <a:prstGeom prst="rect">
            <a:avLst/>
          </a:prstGeom>
          <a:noFill/>
          <a:ln/>
        </p:spPr>
        <p:txBody>
          <a:bodyPr wrap="square" lIns="0" tIns="0" rIns="0" bIns="0" rtlCol="0" anchor="ctr">
            <a:normAutofit/>
          </a:bodyPr>
          <a:lstStyle/>
          <a:p>
            <a:pPr marL="0" indent="0">
              <a:buNone/>
            </a:pPr>
            <a:r>
              <a:rPr lang="en-US" sz="1700" b="1" dirty="0">
                <a:solidFill>
                  <a:srgbClr val="12223C"/>
                </a:solidFill>
                <a:latin typeface="Aptos" pitchFamily="34" charset="0"/>
                <a:ea typeface="Aptos" pitchFamily="34" charset="-122"/>
                <a:cs typeface="Aptos" pitchFamily="34" charset="-120"/>
              </a:rPr>
              <a:t>Beta · β</a:t>
            </a:r>
            <a:endParaRPr lang="en-US" sz="1700" dirty="0"/>
          </a:p>
        </p:txBody>
      </p:sp>
      <p:sp>
        <p:nvSpPr>
          <p:cNvPr id="18" name="Text 16"/>
          <p:cNvSpPr/>
          <p:nvPr/>
        </p:nvSpPr>
        <p:spPr>
          <a:xfrm>
            <a:off x="8284464" y="2350008"/>
            <a:ext cx="2990088" cy="1417320"/>
          </a:xfrm>
          <a:prstGeom prst="rect">
            <a:avLst/>
          </a:prstGeom>
          <a:noFill/>
          <a:ln/>
        </p:spPr>
        <p:txBody>
          <a:bodyPr wrap="square" lIns="0" tIns="0" rIns="0" bIns="0" rtlCol="0" anchor="t">
            <a:normAutofit/>
          </a:bodyPr>
          <a:lstStyle/>
          <a:p>
            <a:pPr marL="0" indent="0">
              <a:buNone/>
            </a:pPr>
            <a:r>
              <a:rPr lang="en-US" sz="1400" dirty="0">
                <a:solidFill>
                  <a:srgbClr val="20324B"/>
                </a:solidFill>
                <a:latin typeface="Aptos" pitchFamily="34" charset="0"/>
                <a:ea typeface="Aptos" pitchFamily="34" charset="-122"/>
                <a:cs typeface="Aptos" pitchFamily="34" charset="-120"/>
              </a:rPr>
              <a:t>1,0. Aprendizaje rápido del prototipo.</a:t>
            </a:r>
            <a:endParaRPr lang="en-US" sz="1400" dirty="0"/>
          </a:p>
        </p:txBody>
      </p:sp>
      <p:sp>
        <p:nvSpPr>
          <p:cNvPr id="19" name="Shape 17"/>
          <p:cNvSpPr/>
          <p:nvPr/>
        </p:nvSpPr>
        <p:spPr>
          <a:xfrm>
            <a:off x="713232" y="4546600"/>
            <a:ext cx="10771632" cy="1161288"/>
          </a:xfrm>
          <a:prstGeom prst="roundRect">
            <a:avLst>
              <a:gd name="adj" fmla="val 11811"/>
            </a:avLst>
          </a:prstGeom>
          <a:solidFill>
            <a:srgbClr val="12223C"/>
          </a:solidFill>
          <a:ln w="3810">
            <a:solidFill>
              <a:srgbClr val="12223C"/>
            </a:solidFill>
            <a:prstDash val="solid"/>
          </a:ln>
        </p:spPr>
      </p:sp>
      <p:sp>
        <p:nvSpPr>
          <p:cNvPr id="20" name="Text 18"/>
          <p:cNvSpPr/>
          <p:nvPr/>
        </p:nvSpPr>
        <p:spPr>
          <a:xfrm>
            <a:off x="960120" y="4660900"/>
            <a:ext cx="10241280" cy="939800"/>
          </a:xfrm>
          <a:prstGeom prst="rect">
            <a:avLst/>
          </a:prstGeom>
          <a:noFill/>
          <a:ln/>
        </p:spPr>
        <p:txBody>
          <a:bodyPr wrap="square" lIns="0" tIns="0" rIns="0" bIns="0" rtlCol="0" anchor="ctr">
            <a:normAutofit lnSpcReduction="10000"/>
          </a:bodyPr>
          <a:lstStyle/>
          <a:p>
            <a:pPr marL="0" indent="0" algn="ctr">
              <a:buNone/>
            </a:pPr>
            <a:r>
              <a:rPr lang="en-US" sz="2100" b="1" dirty="0">
                <a:solidFill>
                  <a:srgbClr val="FFFFFF"/>
                </a:solidFill>
                <a:latin typeface="Aptos" pitchFamily="34" charset="0"/>
                <a:ea typeface="Aptos" pitchFamily="34" charset="-122"/>
                <a:cs typeface="Aptos" pitchFamily="34" charset="-120"/>
              </a:rPr>
              <a:t>14 corridas = 7 vigilancias (0,60 a 0,90) × 2 </a:t>
            </a:r>
            <a:r>
              <a:rPr lang="en-US" sz="2100" b="1" dirty="0" smtClean="0">
                <a:solidFill>
                  <a:srgbClr val="FFFFFF"/>
                </a:solidFill>
                <a:latin typeface="Aptos" pitchFamily="34" charset="0"/>
                <a:ea typeface="Aptos" pitchFamily="34" charset="-122"/>
                <a:cs typeface="Aptos" pitchFamily="34" charset="-120"/>
              </a:rPr>
              <a:t>datasets</a:t>
            </a:r>
          </a:p>
          <a:p>
            <a:pPr marL="0" indent="0" algn="ctr">
              <a:buNone/>
            </a:pPr>
            <a:endParaRPr lang="en-US" sz="2100" b="1" dirty="0" smtClean="0">
              <a:solidFill>
                <a:srgbClr val="FFFFFF"/>
              </a:solidFill>
              <a:latin typeface="Aptos" pitchFamily="34" charset="0"/>
              <a:ea typeface="Aptos" pitchFamily="34" charset="-122"/>
              <a:cs typeface="Aptos" pitchFamily="34" charset="-120"/>
            </a:endParaRPr>
          </a:p>
          <a:p>
            <a:pPr marL="0" indent="0" algn="ctr">
              <a:buNone/>
            </a:pPr>
            <a:r>
              <a:rPr lang="es-ES" sz="2100" b="1" dirty="0" smtClean="0">
                <a:solidFill>
                  <a:srgbClr val="FFFFFF"/>
                </a:solidFill>
                <a:latin typeface="Aptos" pitchFamily="34" charset="0"/>
                <a:ea typeface="Aptos" pitchFamily="34" charset="-122"/>
              </a:rPr>
              <a:t>Código: Probar_vigilancias.py</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p:cNvPicPr>
            <a:picLocks noChangeAspect="1"/>
          </p:cNvPicPr>
          <p:nvPr/>
        </p:nvPicPr>
        <p:blipFill>
          <a:blip r:embed="rId2"/>
          <a:stretch>
            <a:fillRect/>
          </a:stretch>
        </p:blipFill>
        <p:spPr>
          <a:xfrm>
            <a:off x="10589037" y="0"/>
            <a:ext cx="1600423" cy="1600423"/>
          </a:xfrm>
          <a:prstGeom prst="rect">
            <a:avLst/>
          </a:prstGeom>
        </p:spPr>
      </p:pic>
      <p:sp>
        <p:nvSpPr>
          <p:cNvPr id="2" name="Shape 0"/>
          <p:cNvSpPr/>
          <p:nvPr/>
        </p:nvSpPr>
        <p:spPr>
          <a:xfrm>
            <a:off x="0" y="-64008"/>
            <a:ext cx="12191695" cy="128016"/>
          </a:xfrm>
          <a:prstGeom prst="roundRect">
            <a:avLst/>
          </a:prstGeom>
          <a:solidFill>
            <a:srgbClr val="00A5A8"/>
          </a:solidFill>
          <a:ln w="3810">
            <a:solidFill>
              <a:srgbClr val="00A5A8"/>
            </a:solidFill>
            <a:prstDash val="solid"/>
          </a:ln>
        </p:spPr>
      </p:sp>
      <p:sp>
        <p:nvSpPr>
          <p:cNvPr id="4" name="Text 2"/>
          <p:cNvSpPr/>
          <p:nvPr/>
        </p:nvSpPr>
        <p:spPr>
          <a:xfrm>
            <a:off x="594360" y="165100"/>
            <a:ext cx="10972800" cy="960628"/>
          </a:xfrm>
          <a:prstGeom prst="rect">
            <a:avLst/>
          </a:prstGeom>
          <a:noFill/>
          <a:ln/>
        </p:spPr>
        <p:txBody>
          <a:bodyPr wrap="square" lIns="0" tIns="0" rIns="0" bIns="0" rtlCol="0" anchor="ctr">
            <a:normAutofit/>
          </a:bodyPr>
          <a:lstStyle/>
          <a:p>
            <a:pPr marL="0" indent="0">
              <a:buNone/>
            </a:pPr>
            <a:r>
              <a:rPr lang="en-US" sz="2900" b="1" dirty="0" err="1" smtClean="0">
                <a:solidFill>
                  <a:srgbClr val="12223C"/>
                </a:solidFill>
                <a:latin typeface="Aptos" pitchFamily="34" charset="0"/>
                <a:ea typeface="Aptos" pitchFamily="34" charset="-122"/>
                <a:cs typeface="Aptos" pitchFamily="34" charset="-120"/>
              </a:rPr>
              <a:t>Procesamiento</a:t>
            </a:r>
            <a:r>
              <a:rPr lang="en-US" sz="2900" b="1" dirty="0" smtClean="0">
                <a:solidFill>
                  <a:srgbClr val="12223C"/>
                </a:solidFill>
                <a:latin typeface="Aptos" pitchFamily="34" charset="0"/>
                <a:ea typeface="Aptos" pitchFamily="34" charset="-122"/>
                <a:cs typeface="Aptos" pitchFamily="34" charset="-120"/>
              </a:rPr>
              <a:t> de </a:t>
            </a:r>
            <a:r>
              <a:rPr lang="en-US" sz="2900" b="1" dirty="0" err="1" smtClean="0">
                <a:solidFill>
                  <a:srgbClr val="12223C"/>
                </a:solidFill>
                <a:latin typeface="Aptos" pitchFamily="34" charset="0"/>
                <a:ea typeface="Aptos" pitchFamily="34" charset="-122"/>
                <a:cs typeface="Aptos" pitchFamily="34" charset="-120"/>
              </a:rPr>
              <a:t>datos</a:t>
            </a:r>
            <a:endParaRPr lang="en-US" sz="2900" dirty="0"/>
          </a:p>
        </p:txBody>
      </p:sp>
      <p:pic>
        <p:nvPicPr>
          <p:cNvPr id="7" name="Imagen 6"/>
          <p:cNvPicPr>
            <a:picLocks noChangeAspect="1"/>
          </p:cNvPicPr>
          <p:nvPr/>
        </p:nvPicPr>
        <p:blipFill rotWithShape="1">
          <a:blip r:embed="rId3">
            <a:extLst>
              <a:ext uri="{28A0092B-C50C-407E-A947-70E740481C1C}">
                <a14:useLocalDpi xmlns:a14="http://schemas.microsoft.com/office/drawing/2010/main" val="0"/>
              </a:ext>
            </a:extLst>
          </a:blip>
          <a:srcRect t="8502"/>
          <a:stretch/>
        </p:blipFill>
        <p:spPr>
          <a:xfrm>
            <a:off x="1106366" y="1252728"/>
            <a:ext cx="10113643" cy="5208023"/>
          </a:xfrm>
          <a:prstGeom prst="rect">
            <a:avLst/>
          </a:prstGeom>
        </p:spPr>
      </p:pic>
    </p:spTree>
    <p:extLst>
      <p:ext uri="{BB962C8B-B14F-4D97-AF65-F5344CB8AC3E}">
        <p14:creationId xmlns:p14="http://schemas.microsoft.com/office/powerpoint/2010/main" val="10209569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64008"/>
            <a:ext cx="12191695" cy="128016"/>
          </a:xfrm>
          <a:prstGeom prst="roundRect">
            <a:avLst/>
          </a:prstGeom>
          <a:solidFill>
            <a:srgbClr val="00A5A8"/>
          </a:solidFill>
          <a:ln w="3810">
            <a:solidFill>
              <a:srgbClr val="00A5A8"/>
            </a:solidFill>
            <a:prstDash val="solid"/>
          </a:ln>
        </p:spPr>
      </p:sp>
      <p:sp>
        <p:nvSpPr>
          <p:cNvPr id="4" name="Text 2"/>
          <p:cNvSpPr/>
          <p:nvPr/>
        </p:nvSpPr>
        <p:spPr>
          <a:xfrm>
            <a:off x="594360" y="152400"/>
            <a:ext cx="10972800" cy="875792"/>
          </a:xfrm>
          <a:prstGeom prst="rect">
            <a:avLst/>
          </a:prstGeom>
          <a:noFill/>
          <a:ln/>
        </p:spPr>
        <p:txBody>
          <a:bodyPr wrap="square" lIns="0" tIns="0" rIns="0" bIns="0" rtlCol="0" anchor="ctr">
            <a:normAutofit/>
          </a:bodyPr>
          <a:lstStyle/>
          <a:p>
            <a:pPr marL="0" indent="0">
              <a:buNone/>
            </a:pPr>
            <a:r>
              <a:rPr lang="en-US" sz="2900" b="1" dirty="0" err="1" smtClean="0">
                <a:solidFill>
                  <a:srgbClr val="12223C"/>
                </a:solidFill>
                <a:latin typeface="Aptos" pitchFamily="34" charset="0"/>
                <a:ea typeface="Aptos" pitchFamily="34" charset="-122"/>
                <a:cs typeface="Aptos" pitchFamily="34" charset="-120"/>
              </a:rPr>
              <a:t>Funcionamiento</a:t>
            </a:r>
            <a:r>
              <a:rPr lang="en-US" sz="2900" b="1" dirty="0" smtClean="0">
                <a:solidFill>
                  <a:srgbClr val="12223C"/>
                </a:solidFill>
                <a:latin typeface="Aptos" pitchFamily="34" charset="0"/>
                <a:ea typeface="Aptos" pitchFamily="34" charset="-122"/>
                <a:cs typeface="Aptos" pitchFamily="34" charset="-120"/>
              </a:rPr>
              <a:t> de la red </a:t>
            </a:r>
            <a:endParaRPr lang="en-US" sz="2900" dirty="0"/>
          </a:p>
        </p:txBody>
      </p:sp>
      <p:pic>
        <p:nvPicPr>
          <p:cNvPr id="7" name="Imagen 6"/>
          <p:cNvPicPr>
            <a:picLocks noChangeAspect="1"/>
          </p:cNvPicPr>
          <p:nvPr/>
        </p:nvPicPr>
        <p:blipFill rotWithShape="1">
          <a:blip r:embed="rId2">
            <a:extLst>
              <a:ext uri="{28A0092B-C50C-407E-A947-70E740481C1C}">
                <a14:useLocalDpi xmlns:a14="http://schemas.microsoft.com/office/drawing/2010/main" val="0"/>
              </a:ext>
            </a:extLst>
          </a:blip>
          <a:srcRect t="7592"/>
          <a:stretch/>
        </p:blipFill>
        <p:spPr>
          <a:xfrm>
            <a:off x="828739" y="1066800"/>
            <a:ext cx="10643162" cy="5535168"/>
          </a:xfrm>
          <a:prstGeom prst="rect">
            <a:avLst/>
          </a:prstGeom>
        </p:spPr>
      </p:pic>
      <p:pic>
        <p:nvPicPr>
          <p:cNvPr id="8" name="Imagen 7"/>
          <p:cNvPicPr>
            <a:picLocks noChangeAspect="1"/>
          </p:cNvPicPr>
          <p:nvPr/>
        </p:nvPicPr>
        <p:blipFill>
          <a:blip r:embed="rId3"/>
          <a:stretch>
            <a:fillRect/>
          </a:stretch>
        </p:blipFill>
        <p:spPr>
          <a:xfrm>
            <a:off x="10642601" y="89408"/>
            <a:ext cx="1554974" cy="869359"/>
          </a:xfrm>
          <a:prstGeom prst="rect">
            <a:avLst/>
          </a:prstGeom>
        </p:spPr>
      </p:pic>
    </p:spTree>
    <p:extLst>
      <p:ext uri="{BB962C8B-B14F-4D97-AF65-F5344CB8AC3E}">
        <p14:creationId xmlns:p14="http://schemas.microsoft.com/office/powerpoint/2010/main" val="9629328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64008"/>
            <a:ext cx="12191695" cy="128016"/>
          </a:xfrm>
          <a:prstGeom prst="roundRect">
            <a:avLst/>
          </a:prstGeom>
          <a:solidFill>
            <a:srgbClr val="00A5A8"/>
          </a:solidFill>
          <a:ln w="3810">
            <a:solidFill>
              <a:srgbClr val="00A5A8"/>
            </a:solidFill>
            <a:prstDash val="solid"/>
          </a:ln>
        </p:spPr>
      </p:sp>
      <p:sp>
        <p:nvSpPr>
          <p:cNvPr id="8" name="Rectangle 1"/>
          <p:cNvSpPr/>
          <p:nvPr/>
        </p:nvSpPr>
        <p:spPr>
          <a:xfrm>
            <a:off x="0" y="0"/>
            <a:ext cx="12191695" cy="1051560"/>
          </a:xfrm>
          <a:prstGeom prst="rect">
            <a:avLst/>
          </a:prstGeom>
          <a:solidFill>
            <a:srgbClr val="0D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p:cNvSpPr txBox="1"/>
          <p:nvPr/>
        </p:nvSpPr>
        <p:spPr>
          <a:xfrm>
            <a:off x="502920" y="201168"/>
            <a:ext cx="11155680" cy="411480"/>
          </a:xfrm>
          <a:prstGeom prst="rect">
            <a:avLst/>
          </a:prstGeom>
          <a:noFill/>
        </p:spPr>
        <p:txBody>
          <a:bodyPr wrap="square">
            <a:spAutoFit/>
          </a:bodyPr>
          <a:lstStyle/>
          <a:p>
            <a:pPr>
              <a:defRPr sz="2700" b="1">
                <a:solidFill>
                  <a:srgbClr val="FFFFFF"/>
                </a:solidFill>
                <a:latin typeface="Aptos"/>
              </a:defRPr>
            </a:pPr>
            <a:r>
              <a:t>Salidas reales del sistema</a:t>
            </a:r>
          </a:p>
        </p:txBody>
      </p:sp>
      <p:sp>
        <p:nvSpPr>
          <p:cNvPr id="10" name="TextBox 3"/>
          <p:cNvSpPr txBox="1"/>
          <p:nvPr/>
        </p:nvSpPr>
        <p:spPr>
          <a:xfrm>
            <a:off x="521207" y="685800"/>
            <a:ext cx="10972800" cy="228600"/>
          </a:xfrm>
          <a:prstGeom prst="rect">
            <a:avLst/>
          </a:prstGeom>
          <a:noFill/>
        </p:spPr>
        <p:txBody>
          <a:bodyPr wrap="square">
            <a:spAutoFit/>
          </a:bodyPr>
          <a:lstStyle/>
          <a:p>
            <a:pPr>
              <a:defRPr sz="1200" b="0">
                <a:solidFill>
                  <a:srgbClr val="C4E5E9"/>
                </a:solidFill>
                <a:latin typeface="Aptos"/>
              </a:defRPr>
            </a:pPr>
            <a:r>
              <a:t>CarGross.py genera archivos CSV para cada dataset procesado</a:t>
            </a:r>
          </a:p>
        </p:txBody>
      </p:sp>
      <p:sp>
        <p:nvSpPr>
          <p:cNvPr id="11" name="Rounded Rectangle 4"/>
          <p:cNvSpPr/>
          <p:nvPr/>
        </p:nvSpPr>
        <p:spPr>
          <a:xfrm>
            <a:off x="990600" y="1188719"/>
            <a:ext cx="9835896" cy="2295143"/>
          </a:xfrm>
          <a:prstGeom prst="roundRect">
            <a:avLst/>
          </a:prstGeom>
          <a:solidFill>
            <a:srgbClr val="EB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ounded Rectangle 57"/>
          <p:cNvSpPr/>
          <p:nvPr/>
        </p:nvSpPr>
        <p:spPr>
          <a:xfrm>
            <a:off x="990600" y="3721100"/>
            <a:ext cx="9982200" cy="2438400"/>
          </a:xfrm>
          <a:prstGeom prst="round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8" name="Imagen 227"/>
          <p:cNvPicPr>
            <a:picLocks noChangeAspect="1"/>
          </p:cNvPicPr>
          <p:nvPr/>
        </p:nvPicPr>
        <p:blipFill>
          <a:blip r:embed="rId2"/>
          <a:stretch>
            <a:fillRect/>
          </a:stretch>
        </p:blipFill>
        <p:spPr>
          <a:xfrm>
            <a:off x="1426462" y="1293876"/>
            <a:ext cx="8911338" cy="2029968"/>
          </a:xfrm>
          <a:prstGeom prst="rect">
            <a:avLst/>
          </a:prstGeom>
          <a:ln>
            <a:noFill/>
          </a:ln>
          <a:effectLst>
            <a:softEdge rad="112500"/>
          </a:effectLst>
        </p:spPr>
      </p:pic>
      <p:pic>
        <p:nvPicPr>
          <p:cNvPr id="229" name="Imagen 228"/>
          <p:cNvPicPr>
            <a:picLocks noChangeAspect="1"/>
          </p:cNvPicPr>
          <p:nvPr/>
        </p:nvPicPr>
        <p:blipFill rotWithShape="1">
          <a:blip r:embed="rId3"/>
          <a:srcRect b="7162"/>
          <a:stretch/>
        </p:blipFill>
        <p:spPr>
          <a:xfrm>
            <a:off x="1426462" y="3894889"/>
            <a:ext cx="8911338" cy="2074112"/>
          </a:xfrm>
          <a:prstGeom prst="rect">
            <a:avLst/>
          </a:prstGeom>
          <a:ln>
            <a:noFill/>
          </a:ln>
          <a:effectLst>
            <a:softEdge rad="112500"/>
          </a:effectLst>
        </p:spPr>
      </p:pic>
    </p:spTree>
    <p:extLst>
      <p:ext uri="{BB962C8B-B14F-4D97-AF65-F5344CB8AC3E}">
        <p14:creationId xmlns:p14="http://schemas.microsoft.com/office/powerpoint/2010/main" val="25202052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64008"/>
            <a:ext cx="12191695" cy="128016"/>
          </a:xfrm>
          <a:prstGeom prst="roundRect">
            <a:avLst/>
          </a:prstGeom>
          <a:solidFill>
            <a:srgbClr val="00A5A8"/>
          </a:solidFill>
          <a:ln w="3810">
            <a:solidFill>
              <a:srgbClr val="00A5A8"/>
            </a:solidFill>
            <a:prstDash val="solid"/>
          </a:ln>
        </p:spPr>
      </p:sp>
      <p:sp>
        <p:nvSpPr>
          <p:cNvPr id="8" name="Rectangle 1"/>
          <p:cNvSpPr/>
          <p:nvPr/>
        </p:nvSpPr>
        <p:spPr>
          <a:xfrm>
            <a:off x="0" y="0"/>
            <a:ext cx="12191695" cy="1051560"/>
          </a:xfrm>
          <a:prstGeom prst="rect">
            <a:avLst/>
          </a:prstGeom>
          <a:solidFill>
            <a:srgbClr val="0D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p:cNvSpPr txBox="1"/>
          <p:nvPr/>
        </p:nvSpPr>
        <p:spPr>
          <a:xfrm>
            <a:off x="502920" y="201168"/>
            <a:ext cx="11155680" cy="411480"/>
          </a:xfrm>
          <a:prstGeom prst="rect">
            <a:avLst/>
          </a:prstGeom>
          <a:noFill/>
        </p:spPr>
        <p:txBody>
          <a:bodyPr wrap="square">
            <a:spAutoFit/>
          </a:bodyPr>
          <a:lstStyle/>
          <a:p>
            <a:pPr>
              <a:defRPr sz="2700" b="1">
                <a:solidFill>
                  <a:srgbClr val="FFFFFF"/>
                </a:solidFill>
                <a:latin typeface="Aptos"/>
              </a:defRPr>
            </a:pPr>
            <a:r>
              <a:t>Resultados de la corrida definitiva</a:t>
            </a:r>
          </a:p>
        </p:txBody>
      </p:sp>
      <p:sp>
        <p:nvSpPr>
          <p:cNvPr id="10" name="TextBox 3"/>
          <p:cNvSpPr txBox="1"/>
          <p:nvPr/>
        </p:nvSpPr>
        <p:spPr>
          <a:xfrm>
            <a:off x="521207" y="685800"/>
            <a:ext cx="10972800" cy="228600"/>
          </a:xfrm>
          <a:prstGeom prst="rect">
            <a:avLst/>
          </a:prstGeom>
          <a:noFill/>
        </p:spPr>
        <p:txBody>
          <a:bodyPr wrap="square">
            <a:spAutoFit/>
          </a:bodyPr>
          <a:lstStyle/>
          <a:p>
            <a:pPr>
              <a:defRPr sz="1200" b="0">
                <a:solidFill>
                  <a:srgbClr val="C4E5E9"/>
                </a:solidFill>
                <a:latin typeface="Aptos"/>
              </a:defRPr>
            </a:pPr>
            <a:r>
              <a:t>Vigilancia ρ = 0,70  ·  Datos balanceados y filtrados entre 20 y 40 años</a:t>
            </a:r>
          </a:p>
        </p:txBody>
      </p:sp>
      <p:sp>
        <p:nvSpPr>
          <p:cNvPr id="11" name="Rounded Rectangle 4"/>
          <p:cNvSpPr/>
          <p:nvPr/>
        </p:nvSpPr>
        <p:spPr>
          <a:xfrm>
            <a:off x="685800" y="1417320"/>
            <a:ext cx="5212080" cy="3749039"/>
          </a:xfrm>
          <a:prstGeom prst="roundRect">
            <a:avLst/>
          </a:prstGeom>
          <a:solidFill>
            <a:srgbClr val="F2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5"/>
          <p:cNvSpPr/>
          <p:nvPr/>
        </p:nvSpPr>
        <p:spPr>
          <a:xfrm>
            <a:off x="685800" y="1417320"/>
            <a:ext cx="5212080" cy="109728"/>
          </a:xfrm>
          <a:prstGeom prst="rect">
            <a:avLst/>
          </a:prstGeom>
          <a:solidFill>
            <a:srgbClr val="0F85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6"/>
          <p:cNvSpPr txBox="1"/>
          <p:nvPr/>
        </p:nvSpPr>
        <p:spPr>
          <a:xfrm>
            <a:off x="960120" y="1746504"/>
            <a:ext cx="4572000" cy="329184"/>
          </a:xfrm>
          <a:prstGeom prst="rect">
            <a:avLst/>
          </a:prstGeom>
          <a:noFill/>
        </p:spPr>
        <p:txBody>
          <a:bodyPr wrap="square">
            <a:spAutoFit/>
          </a:bodyPr>
          <a:lstStyle/>
          <a:p>
            <a:pPr>
              <a:defRPr sz="1800" b="1">
                <a:solidFill>
                  <a:srgbClr val="0F8585"/>
                </a:solidFill>
                <a:latin typeface="Aptos"/>
              </a:defRPr>
            </a:pPr>
            <a:r>
              <a:t>FEMENINO</a:t>
            </a:r>
          </a:p>
        </p:txBody>
      </p:sp>
      <p:sp>
        <p:nvSpPr>
          <p:cNvPr id="14" name="TextBox 7"/>
          <p:cNvSpPr txBox="1"/>
          <p:nvPr/>
        </p:nvSpPr>
        <p:spPr>
          <a:xfrm>
            <a:off x="960120" y="2148840"/>
            <a:ext cx="1920240" cy="685800"/>
          </a:xfrm>
          <a:prstGeom prst="rect">
            <a:avLst/>
          </a:prstGeom>
          <a:noFill/>
        </p:spPr>
        <p:txBody>
          <a:bodyPr wrap="square">
            <a:spAutoFit/>
          </a:bodyPr>
          <a:lstStyle/>
          <a:p>
            <a:pPr>
              <a:defRPr sz="3900" b="1">
                <a:solidFill>
                  <a:srgbClr val="0D2A45"/>
                </a:solidFill>
                <a:latin typeface="Aptos"/>
              </a:defRPr>
            </a:pPr>
            <a:r>
              <a:t>215</a:t>
            </a:r>
          </a:p>
        </p:txBody>
      </p:sp>
      <p:sp>
        <p:nvSpPr>
          <p:cNvPr id="15" name="TextBox 8"/>
          <p:cNvSpPr txBox="1"/>
          <p:nvPr/>
        </p:nvSpPr>
        <p:spPr>
          <a:xfrm>
            <a:off x="3017520" y="2441448"/>
            <a:ext cx="2011680" cy="292608"/>
          </a:xfrm>
          <a:prstGeom prst="rect">
            <a:avLst/>
          </a:prstGeom>
          <a:noFill/>
        </p:spPr>
        <p:txBody>
          <a:bodyPr wrap="square">
            <a:spAutoFit/>
          </a:bodyPr>
          <a:lstStyle/>
          <a:p>
            <a:pPr>
              <a:defRPr sz="1600" b="0">
                <a:solidFill>
                  <a:srgbClr val="556979"/>
                </a:solidFill>
                <a:latin typeface="Aptos"/>
              </a:defRPr>
            </a:pPr>
            <a:r>
              <a:t>usuarios</a:t>
            </a:r>
          </a:p>
        </p:txBody>
      </p:sp>
      <p:sp>
        <p:nvSpPr>
          <p:cNvPr id="16" name="TextBox 9"/>
          <p:cNvSpPr txBox="1"/>
          <p:nvPr/>
        </p:nvSpPr>
        <p:spPr>
          <a:xfrm>
            <a:off x="960120" y="3081528"/>
            <a:ext cx="1920240" cy="685800"/>
          </a:xfrm>
          <a:prstGeom prst="rect">
            <a:avLst/>
          </a:prstGeom>
          <a:noFill/>
        </p:spPr>
        <p:txBody>
          <a:bodyPr wrap="square">
            <a:spAutoFit/>
          </a:bodyPr>
          <a:lstStyle/>
          <a:p>
            <a:pPr>
              <a:defRPr sz="3900" b="1">
                <a:solidFill>
                  <a:srgbClr val="0D2A45"/>
                </a:solidFill>
                <a:latin typeface="Aptos"/>
              </a:defRPr>
            </a:pPr>
            <a:r>
              <a:t>44</a:t>
            </a:r>
          </a:p>
        </p:txBody>
      </p:sp>
      <p:sp>
        <p:nvSpPr>
          <p:cNvPr id="17" name="TextBox 10"/>
          <p:cNvSpPr txBox="1"/>
          <p:nvPr/>
        </p:nvSpPr>
        <p:spPr>
          <a:xfrm>
            <a:off x="3017520" y="3364992"/>
            <a:ext cx="2011680" cy="292608"/>
          </a:xfrm>
          <a:prstGeom prst="rect">
            <a:avLst/>
          </a:prstGeom>
          <a:noFill/>
        </p:spPr>
        <p:txBody>
          <a:bodyPr wrap="square">
            <a:spAutoFit/>
          </a:bodyPr>
          <a:lstStyle/>
          <a:p>
            <a:pPr>
              <a:defRPr sz="1600" b="0">
                <a:solidFill>
                  <a:srgbClr val="556979"/>
                </a:solidFill>
                <a:latin typeface="Aptos"/>
              </a:defRPr>
            </a:pPr>
            <a:r>
              <a:t>clusters</a:t>
            </a:r>
          </a:p>
        </p:txBody>
      </p:sp>
      <p:sp>
        <p:nvSpPr>
          <p:cNvPr id="18" name="TextBox 11"/>
          <p:cNvSpPr txBox="1"/>
          <p:nvPr/>
        </p:nvSpPr>
        <p:spPr>
          <a:xfrm>
            <a:off x="960120" y="4178808"/>
            <a:ext cx="2377440" cy="438912"/>
          </a:xfrm>
          <a:prstGeom prst="rect">
            <a:avLst/>
          </a:prstGeom>
          <a:noFill/>
        </p:spPr>
        <p:txBody>
          <a:bodyPr wrap="square">
            <a:spAutoFit/>
          </a:bodyPr>
          <a:lstStyle/>
          <a:p>
            <a:pPr>
              <a:defRPr sz="2700" b="1">
                <a:solidFill>
                  <a:srgbClr val="0F8585"/>
                </a:solidFill>
                <a:latin typeface="Aptos"/>
              </a:defRPr>
            </a:pPr>
            <a:r>
              <a:t>95,81 %</a:t>
            </a:r>
          </a:p>
        </p:txBody>
      </p:sp>
      <p:sp>
        <p:nvSpPr>
          <p:cNvPr id="19" name="TextBox 12"/>
          <p:cNvSpPr txBox="1"/>
          <p:nvPr/>
        </p:nvSpPr>
        <p:spPr>
          <a:xfrm>
            <a:off x="3200400" y="4279392"/>
            <a:ext cx="2423160" cy="438912"/>
          </a:xfrm>
          <a:prstGeom prst="rect">
            <a:avLst/>
          </a:prstGeom>
          <a:noFill/>
        </p:spPr>
        <p:txBody>
          <a:bodyPr wrap="square">
            <a:spAutoFit/>
          </a:bodyPr>
          <a:lstStyle/>
          <a:p>
            <a:pPr>
              <a:defRPr sz="1300" b="0">
                <a:solidFill>
                  <a:srgbClr val="556979"/>
                </a:solidFill>
                <a:latin typeface="Aptos"/>
              </a:defRPr>
            </a:pPr>
            <a:r>
              <a:t>coherencia por actividad</a:t>
            </a:r>
          </a:p>
        </p:txBody>
      </p:sp>
      <p:sp>
        <p:nvSpPr>
          <p:cNvPr id="20" name="Rounded Rectangle 13"/>
          <p:cNvSpPr/>
          <p:nvPr/>
        </p:nvSpPr>
        <p:spPr>
          <a:xfrm>
            <a:off x="6309360" y="1417320"/>
            <a:ext cx="5212080" cy="3749039"/>
          </a:xfrm>
          <a:prstGeom prst="roundRect">
            <a:avLst/>
          </a:prstGeom>
          <a:solidFill>
            <a:srgbClr val="F2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14"/>
          <p:cNvSpPr/>
          <p:nvPr/>
        </p:nvSpPr>
        <p:spPr>
          <a:xfrm>
            <a:off x="6309360" y="1417320"/>
            <a:ext cx="5212080" cy="109728"/>
          </a:xfrm>
          <a:prstGeom prst="rect">
            <a:avLst/>
          </a:prstGeom>
          <a:solidFill>
            <a:srgbClr val="E09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15"/>
          <p:cNvSpPr txBox="1"/>
          <p:nvPr/>
        </p:nvSpPr>
        <p:spPr>
          <a:xfrm>
            <a:off x="6583680" y="1746504"/>
            <a:ext cx="4572000" cy="329184"/>
          </a:xfrm>
          <a:prstGeom prst="rect">
            <a:avLst/>
          </a:prstGeom>
          <a:noFill/>
        </p:spPr>
        <p:txBody>
          <a:bodyPr wrap="square">
            <a:spAutoFit/>
          </a:bodyPr>
          <a:lstStyle/>
          <a:p>
            <a:pPr>
              <a:defRPr sz="1800" b="1">
                <a:solidFill>
                  <a:srgbClr val="E09142"/>
                </a:solidFill>
                <a:latin typeface="Aptos"/>
              </a:defRPr>
            </a:pPr>
            <a:r>
              <a:t>MASCULINO</a:t>
            </a:r>
          </a:p>
        </p:txBody>
      </p:sp>
      <p:sp>
        <p:nvSpPr>
          <p:cNvPr id="23" name="TextBox 16"/>
          <p:cNvSpPr txBox="1"/>
          <p:nvPr/>
        </p:nvSpPr>
        <p:spPr>
          <a:xfrm>
            <a:off x="6583680" y="2148840"/>
            <a:ext cx="1920240" cy="685800"/>
          </a:xfrm>
          <a:prstGeom prst="rect">
            <a:avLst/>
          </a:prstGeom>
          <a:noFill/>
        </p:spPr>
        <p:txBody>
          <a:bodyPr wrap="square">
            <a:spAutoFit/>
          </a:bodyPr>
          <a:lstStyle/>
          <a:p>
            <a:pPr>
              <a:defRPr sz="3900" b="1">
                <a:solidFill>
                  <a:srgbClr val="0D2A45"/>
                </a:solidFill>
                <a:latin typeface="Aptos"/>
              </a:defRPr>
            </a:pPr>
            <a:r>
              <a:t>221</a:t>
            </a:r>
          </a:p>
        </p:txBody>
      </p:sp>
      <p:sp>
        <p:nvSpPr>
          <p:cNvPr id="24" name="TextBox 17"/>
          <p:cNvSpPr txBox="1"/>
          <p:nvPr/>
        </p:nvSpPr>
        <p:spPr>
          <a:xfrm>
            <a:off x="8641080" y="2441448"/>
            <a:ext cx="2011680" cy="292608"/>
          </a:xfrm>
          <a:prstGeom prst="rect">
            <a:avLst/>
          </a:prstGeom>
          <a:noFill/>
        </p:spPr>
        <p:txBody>
          <a:bodyPr wrap="square">
            <a:spAutoFit/>
          </a:bodyPr>
          <a:lstStyle/>
          <a:p>
            <a:pPr>
              <a:defRPr sz="1600" b="0">
                <a:solidFill>
                  <a:srgbClr val="556979"/>
                </a:solidFill>
                <a:latin typeface="Aptos"/>
              </a:defRPr>
            </a:pPr>
            <a:r>
              <a:t>usuarios</a:t>
            </a:r>
          </a:p>
        </p:txBody>
      </p:sp>
      <p:sp>
        <p:nvSpPr>
          <p:cNvPr id="25" name="TextBox 18"/>
          <p:cNvSpPr txBox="1"/>
          <p:nvPr/>
        </p:nvSpPr>
        <p:spPr>
          <a:xfrm>
            <a:off x="6583680" y="3081528"/>
            <a:ext cx="1920240" cy="685800"/>
          </a:xfrm>
          <a:prstGeom prst="rect">
            <a:avLst/>
          </a:prstGeom>
          <a:noFill/>
        </p:spPr>
        <p:txBody>
          <a:bodyPr wrap="square">
            <a:spAutoFit/>
          </a:bodyPr>
          <a:lstStyle/>
          <a:p>
            <a:pPr>
              <a:defRPr sz="3900" b="1">
                <a:solidFill>
                  <a:srgbClr val="0D2A45"/>
                </a:solidFill>
                <a:latin typeface="Aptos"/>
              </a:defRPr>
            </a:pPr>
            <a:r>
              <a:t>53</a:t>
            </a:r>
          </a:p>
        </p:txBody>
      </p:sp>
      <p:sp>
        <p:nvSpPr>
          <p:cNvPr id="26" name="TextBox 19"/>
          <p:cNvSpPr txBox="1"/>
          <p:nvPr/>
        </p:nvSpPr>
        <p:spPr>
          <a:xfrm>
            <a:off x="8641080" y="3364992"/>
            <a:ext cx="2011680" cy="292608"/>
          </a:xfrm>
          <a:prstGeom prst="rect">
            <a:avLst/>
          </a:prstGeom>
          <a:noFill/>
        </p:spPr>
        <p:txBody>
          <a:bodyPr wrap="square">
            <a:spAutoFit/>
          </a:bodyPr>
          <a:lstStyle/>
          <a:p>
            <a:pPr>
              <a:defRPr sz="1600" b="0">
                <a:solidFill>
                  <a:srgbClr val="556979"/>
                </a:solidFill>
                <a:latin typeface="Aptos"/>
              </a:defRPr>
            </a:pPr>
            <a:r>
              <a:t>clusters</a:t>
            </a:r>
          </a:p>
        </p:txBody>
      </p:sp>
      <p:sp>
        <p:nvSpPr>
          <p:cNvPr id="27" name="TextBox 20"/>
          <p:cNvSpPr txBox="1"/>
          <p:nvPr/>
        </p:nvSpPr>
        <p:spPr>
          <a:xfrm>
            <a:off x="6583680" y="4178808"/>
            <a:ext cx="2377440" cy="438912"/>
          </a:xfrm>
          <a:prstGeom prst="rect">
            <a:avLst/>
          </a:prstGeom>
          <a:noFill/>
        </p:spPr>
        <p:txBody>
          <a:bodyPr wrap="square">
            <a:spAutoFit/>
          </a:bodyPr>
          <a:lstStyle/>
          <a:p>
            <a:pPr>
              <a:defRPr sz="2700" b="1">
                <a:solidFill>
                  <a:srgbClr val="E09142"/>
                </a:solidFill>
                <a:latin typeface="Aptos"/>
              </a:defRPr>
            </a:pPr>
            <a:r>
              <a:t>93,21 %</a:t>
            </a:r>
          </a:p>
        </p:txBody>
      </p:sp>
      <p:sp>
        <p:nvSpPr>
          <p:cNvPr id="28" name="TextBox 21"/>
          <p:cNvSpPr txBox="1"/>
          <p:nvPr/>
        </p:nvSpPr>
        <p:spPr>
          <a:xfrm>
            <a:off x="8823960" y="4279392"/>
            <a:ext cx="2423160" cy="438912"/>
          </a:xfrm>
          <a:prstGeom prst="rect">
            <a:avLst/>
          </a:prstGeom>
          <a:noFill/>
        </p:spPr>
        <p:txBody>
          <a:bodyPr wrap="square">
            <a:spAutoFit/>
          </a:bodyPr>
          <a:lstStyle/>
          <a:p>
            <a:pPr>
              <a:defRPr sz="1300" b="0">
                <a:solidFill>
                  <a:srgbClr val="556979"/>
                </a:solidFill>
                <a:latin typeface="Aptos"/>
              </a:defRPr>
            </a:pPr>
            <a:r>
              <a:t>coherencia por actividad</a:t>
            </a:r>
          </a:p>
        </p:txBody>
      </p:sp>
      <p:sp>
        <p:nvSpPr>
          <p:cNvPr id="31" name="Text 13"/>
          <p:cNvSpPr/>
          <p:nvPr/>
        </p:nvSpPr>
        <p:spPr>
          <a:xfrm>
            <a:off x="777240" y="5650992"/>
            <a:ext cx="10698480" cy="475488"/>
          </a:xfrm>
          <a:prstGeom prst="rect">
            <a:avLst/>
          </a:prstGeom>
          <a:noFill/>
          <a:ln/>
        </p:spPr>
        <p:txBody>
          <a:bodyPr wrap="square" lIns="0" tIns="0" rIns="0" bIns="0" rtlCol="0" anchor="ctr">
            <a:normAutofit/>
          </a:bodyPr>
          <a:lstStyle/>
          <a:p>
            <a:pPr marL="0" indent="0">
              <a:buNone/>
            </a:pPr>
            <a:r>
              <a:rPr lang="en-US" sz="1700" b="1" dirty="0">
                <a:solidFill>
                  <a:srgbClr val="315E9B"/>
                </a:solidFill>
                <a:latin typeface="Aptos" pitchFamily="34" charset="0"/>
                <a:ea typeface="Aptos" pitchFamily="34" charset="-122"/>
                <a:cs typeface="Aptos" pitchFamily="34" charset="-120"/>
              </a:rPr>
              <a:t>La red no “descubre el estado físico verdadero”: identifica similitudes en las variables disponibles.</a:t>
            </a:r>
            <a:endParaRPr lang="en-US" sz="1700" dirty="0"/>
          </a:p>
        </p:txBody>
      </p:sp>
    </p:spTree>
    <p:extLst>
      <p:ext uri="{BB962C8B-B14F-4D97-AF65-F5344CB8AC3E}">
        <p14:creationId xmlns:p14="http://schemas.microsoft.com/office/powerpoint/2010/main" val="37830910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2223C"/>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oundRect">
            <a:avLst/>
          </a:prstGeom>
          <a:solidFill>
            <a:srgbClr val="00A5A8"/>
          </a:solidFill>
          <a:ln w="3810">
            <a:solidFill>
              <a:srgbClr val="00A5A8"/>
            </a:solidFill>
            <a:prstDash val="solid"/>
          </a:ln>
        </p:spPr>
      </p:sp>
      <p:sp>
        <p:nvSpPr>
          <p:cNvPr id="3" name="Text 1"/>
          <p:cNvSpPr/>
          <p:nvPr/>
        </p:nvSpPr>
        <p:spPr>
          <a:xfrm>
            <a:off x="758952" y="992416"/>
            <a:ext cx="10058400" cy="502920"/>
          </a:xfrm>
          <a:prstGeom prst="rect">
            <a:avLst/>
          </a:prstGeom>
          <a:noFill/>
          <a:ln/>
        </p:spPr>
        <p:txBody>
          <a:bodyPr wrap="square" lIns="0" tIns="0" rIns="0" bIns="0" rtlCol="0" anchor="ctr">
            <a:normAutofit/>
          </a:bodyPr>
          <a:lstStyle/>
          <a:p>
            <a:pPr marL="0" indent="0">
              <a:buNone/>
            </a:pPr>
            <a:r>
              <a:rPr lang="en-US" sz="1800" b="1" kern="0" spc="300" dirty="0">
                <a:solidFill>
                  <a:srgbClr val="72D9DB"/>
                </a:solidFill>
                <a:latin typeface="Aptos" pitchFamily="34" charset="0"/>
                <a:ea typeface="Aptos" pitchFamily="34" charset="-122"/>
                <a:cs typeface="Aptos" pitchFamily="34" charset="-120"/>
              </a:rPr>
              <a:t>CARPENTER–GROSSBERG</a:t>
            </a:r>
            <a:endParaRPr lang="en-US" sz="1800" dirty="0"/>
          </a:p>
        </p:txBody>
      </p:sp>
      <p:sp>
        <p:nvSpPr>
          <p:cNvPr id="4" name="Text 2"/>
          <p:cNvSpPr/>
          <p:nvPr/>
        </p:nvSpPr>
        <p:spPr>
          <a:xfrm>
            <a:off x="777239" y="1421889"/>
            <a:ext cx="5735901" cy="1645920"/>
          </a:xfrm>
          <a:prstGeom prst="rect">
            <a:avLst/>
          </a:prstGeom>
          <a:noFill/>
          <a:ln/>
        </p:spPr>
        <p:txBody>
          <a:bodyPr wrap="square" lIns="0" tIns="0" rIns="0" bIns="0" rtlCol="0" anchor="ctr">
            <a:normAutofit/>
          </a:bodyPr>
          <a:lstStyle/>
          <a:p>
            <a:pPr marL="0" indent="0">
              <a:buNone/>
            </a:pPr>
            <a:r>
              <a:rPr lang="en-US" sz="4300" b="1" dirty="0" err="1" smtClean="0">
                <a:solidFill>
                  <a:srgbClr val="FFFFFF"/>
                </a:solidFill>
                <a:latin typeface="Aptos" pitchFamily="34" charset="0"/>
                <a:ea typeface="Aptos" pitchFamily="34" charset="-122"/>
                <a:cs typeface="Aptos" pitchFamily="34" charset="-120"/>
              </a:rPr>
              <a:t>Conclusión</a:t>
            </a:r>
            <a:endParaRPr lang="en-US" sz="4300" dirty="0"/>
          </a:p>
        </p:txBody>
      </p:sp>
      <p:pic>
        <p:nvPicPr>
          <p:cNvPr id="8" name="Imagen 7"/>
          <p:cNvPicPr>
            <a:picLocks noChangeAspect="1"/>
          </p:cNvPicPr>
          <p:nvPr/>
        </p:nvPicPr>
        <p:blipFill rotWithShape="1">
          <a:blip r:embed="rId3"/>
          <a:srcRect t="571"/>
          <a:stretch/>
        </p:blipFill>
        <p:spPr>
          <a:xfrm>
            <a:off x="6531429" y="1"/>
            <a:ext cx="5660570" cy="6844936"/>
          </a:xfrm>
          <a:prstGeom prst="rect">
            <a:avLst/>
          </a:prstGeom>
        </p:spPr>
      </p:pic>
      <p:sp>
        <p:nvSpPr>
          <p:cNvPr id="5" name="Text 3"/>
          <p:cNvSpPr/>
          <p:nvPr/>
        </p:nvSpPr>
        <p:spPr>
          <a:xfrm>
            <a:off x="795527" y="2839208"/>
            <a:ext cx="5375501" cy="2395434"/>
          </a:xfrm>
          <a:prstGeom prst="rect">
            <a:avLst/>
          </a:prstGeom>
          <a:noFill/>
          <a:ln/>
        </p:spPr>
        <p:txBody>
          <a:bodyPr wrap="square" lIns="0" tIns="0" rIns="0" bIns="0" rtlCol="0" anchor="ctr">
            <a:normAutofit fontScale="55000" lnSpcReduction="20000"/>
          </a:bodyPr>
          <a:lstStyle/>
          <a:p>
            <a:r>
              <a:rPr lang="es-ES" sz="3300" dirty="0">
                <a:solidFill>
                  <a:srgbClr val="D8E6F6"/>
                </a:solidFill>
                <a:latin typeface="Aptos" pitchFamily="34" charset="0"/>
                <a:ea typeface="Aptos" pitchFamily="34" charset="-122"/>
                <a:cs typeface="Aptos" pitchFamily="34" charset="-120"/>
              </a:rPr>
              <a:t>Las redes </a:t>
            </a:r>
            <a:r>
              <a:rPr lang="es-ES" sz="3300" dirty="0" err="1">
                <a:solidFill>
                  <a:srgbClr val="D8E6F6"/>
                </a:solidFill>
                <a:latin typeface="Aptos" pitchFamily="34" charset="0"/>
                <a:ea typeface="Aptos" pitchFamily="34" charset="-122"/>
                <a:cs typeface="Aptos" pitchFamily="34" charset="-120"/>
              </a:rPr>
              <a:t>Carpenter-Grossberg</a:t>
            </a:r>
            <a:r>
              <a:rPr lang="es-ES" sz="3300" dirty="0">
                <a:solidFill>
                  <a:srgbClr val="D8E6F6"/>
                </a:solidFill>
                <a:latin typeface="Aptos" pitchFamily="34" charset="0"/>
                <a:ea typeface="Aptos" pitchFamily="34" charset="-122"/>
                <a:cs typeface="Aptos" pitchFamily="34" charset="-120"/>
              </a:rPr>
              <a:t> </a:t>
            </a:r>
            <a:r>
              <a:rPr lang="es-ES" sz="3300" dirty="0" smtClean="0">
                <a:solidFill>
                  <a:srgbClr val="D8E6F6"/>
                </a:solidFill>
                <a:latin typeface="Aptos" pitchFamily="34" charset="0"/>
                <a:ea typeface="Aptos" pitchFamily="34" charset="-122"/>
                <a:cs typeface="Aptos" pitchFamily="34" charset="-120"/>
              </a:rPr>
              <a:t>nos ofrecieron </a:t>
            </a:r>
            <a:r>
              <a:rPr lang="es-ES" sz="3300" dirty="0">
                <a:solidFill>
                  <a:srgbClr val="D8E6F6"/>
                </a:solidFill>
                <a:latin typeface="Aptos" pitchFamily="34" charset="0"/>
                <a:ea typeface="Aptos" pitchFamily="34" charset="-122"/>
                <a:cs typeface="Aptos" pitchFamily="34" charset="-120"/>
              </a:rPr>
              <a:t>una alternativa adaptable para descubrir patrones en los </a:t>
            </a:r>
            <a:r>
              <a:rPr lang="es-ES" sz="3300" dirty="0" smtClean="0">
                <a:solidFill>
                  <a:srgbClr val="D8E6F6"/>
                </a:solidFill>
                <a:latin typeface="Aptos" pitchFamily="34" charset="0"/>
                <a:ea typeface="Aptos" pitchFamily="34" charset="-122"/>
                <a:cs typeface="Aptos" pitchFamily="34" charset="-120"/>
              </a:rPr>
              <a:t>datos.</a:t>
            </a:r>
          </a:p>
          <a:p>
            <a:r>
              <a:rPr lang="es-ES" sz="3300" dirty="0" smtClean="0">
                <a:solidFill>
                  <a:srgbClr val="D8E6F6"/>
                </a:solidFill>
                <a:latin typeface="Aptos" pitchFamily="34" charset="0"/>
                <a:ea typeface="Aptos" pitchFamily="34" charset="-122"/>
                <a:cs typeface="Aptos" pitchFamily="34" charset="-120"/>
              </a:rPr>
              <a:t>Implementamos </a:t>
            </a:r>
            <a:r>
              <a:rPr lang="es-ES" sz="3300" dirty="0">
                <a:solidFill>
                  <a:srgbClr val="D8E6F6"/>
                </a:solidFill>
                <a:latin typeface="Aptos" pitchFamily="34" charset="0"/>
                <a:ea typeface="Aptos" pitchFamily="34" charset="-122"/>
                <a:cs typeface="Aptos" pitchFamily="34" charset="-120"/>
              </a:rPr>
              <a:t>una red neuronal no supervisada basada en </a:t>
            </a:r>
            <a:r>
              <a:rPr lang="es-ES" sz="3300" dirty="0" err="1">
                <a:solidFill>
                  <a:srgbClr val="D8E6F6"/>
                </a:solidFill>
                <a:latin typeface="Aptos" pitchFamily="34" charset="0"/>
                <a:ea typeface="Aptos" pitchFamily="34" charset="-122"/>
                <a:cs typeface="Aptos" pitchFamily="34" charset="-120"/>
              </a:rPr>
              <a:t>Fuzzy</a:t>
            </a:r>
            <a:r>
              <a:rPr lang="es-ES" sz="3300" dirty="0">
                <a:solidFill>
                  <a:srgbClr val="D8E6F6"/>
                </a:solidFill>
                <a:latin typeface="Aptos" pitchFamily="34" charset="0"/>
                <a:ea typeface="Aptos" pitchFamily="34" charset="-122"/>
                <a:cs typeface="Aptos" pitchFamily="34" charset="-120"/>
              </a:rPr>
              <a:t> ART, capaz de agrupar perfiles fitness sin definir previamente la cantidad de </a:t>
            </a:r>
            <a:r>
              <a:rPr lang="es-ES" sz="3300" dirty="0" err="1" smtClean="0">
                <a:solidFill>
                  <a:srgbClr val="D8E6F6"/>
                </a:solidFill>
                <a:latin typeface="Aptos" pitchFamily="34" charset="0"/>
                <a:ea typeface="Aptos" pitchFamily="34" charset="-122"/>
                <a:cs typeface="Aptos" pitchFamily="34" charset="-120"/>
              </a:rPr>
              <a:t>clusters</a:t>
            </a:r>
            <a:r>
              <a:rPr lang="es-ES" sz="3300" dirty="0" smtClean="0">
                <a:solidFill>
                  <a:srgbClr val="D8E6F6"/>
                </a:solidFill>
                <a:latin typeface="Aptos" pitchFamily="34" charset="0"/>
                <a:ea typeface="Aptos" pitchFamily="34" charset="-122"/>
                <a:cs typeface="Aptos" pitchFamily="34" charset="-120"/>
              </a:rPr>
              <a:t> y pudimos comprobar </a:t>
            </a:r>
            <a:r>
              <a:rPr lang="es-ES" sz="3300" dirty="0">
                <a:solidFill>
                  <a:srgbClr val="D8E6F6"/>
                </a:solidFill>
                <a:latin typeface="Aptos" pitchFamily="34" charset="0"/>
                <a:ea typeface="Aptos" pitchFamily="34" charset="-122"/>
                <a:cs typeface="Aptos" pitchFamily="34" charset="-120"/>
              </a:rPr>
              <a:t>la importancia del </a:t>
            </a:r>
            <a:r>
              <a:rPr lang="es-ES" sz="3300" dirty="0" err="1">
                <a:solidFill>
                  <a:srgbClr val="D8E6F6"/>
                </a:solidFill>
                <a:latin typeface="Aptos" pitchFamily="34" charset="0"/>
                <a:ea typeface="Aptos" pitchFamily="34" charset="-122"/>
                <a:cs typeface="Aptos" pitchFamily="34" charset="-120"/>
              </a:rPr>
              <a:t>preprocesamiento</a:t>
            </a:r>
            <a:r>
              <a:rPr lang="es-ES" sz="3300" dirty="0">
                <a:solidFill>
                  <a:srgbClr val="D8E6F6"/>
                </a:solidFill>
                <a:latin typeface="Aptos" pitchFamily="34" charset="0"/>
                <a:ea typeface="Aptos" pitchFamily="34" charset="-122"/>
                <a:cs typeface="Aptos" pitchFamily="34" charset="-120"/>
              </a:rPr>
              <a:t>, la elección de parámetros y la evaluación crítica de los resultados.</a:t>
            </a:r>
          </a:p>
          <a:p>
            <a:endParaRPr lang="es-ES" sz="2100" dirty="0">
              <a:solidFill>
                <a:srgbClr val="D8E6F6"/>
              </a:solidFill>
              <a:latin typeface="Aptos" pitchFamily="34" charset="0"/>
              <a:ea typeface="Aptos" pitchFamily="34" charset="-122"/>
            </a:endParaRPr>
          </a:p>
          <a:p>
            <a:endParaRPr lang="en-US" sz="2100" dirty="0"/>
          </a:p>
        </p:txBody>
      </p:sp>
      <p:sp>
        <p:nvSpPr>
          <p:cNvPr id="6" name="Text 4"/>
          <p:cNvSpPr/>
          <p:nvPr/>
        </p:nvSpPr>
        <p:spPr>
          <a:xfrm>
            <a:off x="543280" y="5626324"/>
            <a:ext cx="10058400" cy="967132"/>
          </a:xfrm>
          <a:prstGeom prst="rect">
            <a:avLst/>
          </a:prstGeom>
          <a:noFill/>
          <a:ln/>
        </p:spPr>
        <p:txBody>
          <a:bodyPr wrap="square" lIns="0" tIns="0" rIns="0" bIns="0" rtlCol="0" anchor="ctr">
            <a:normAutofit/>
          </a:bodyPr>
          <a:lstStyle/>
          <a:p>
            <a:pPr marL="0" indent="0">
              <a:buNone/>
            </a:pPr>
            <a:r>
              <a:rPr lang="en-US" sz="1300" dirty="0">
                <a:solidFill>
                  <a:srgbClr val="B3C9E0"/>
                </a:solidFill>
                <a:latin typeface="Aptos" pitchFamily="34" charset="0"/>
                <a:ea typeface="Aptos" pitchFamily="34" charset="-122"/>
                <a:cs typeface="Aptos" pitchFamily="34" charset="-120"/>
              </a:rPr>
              <a:t>UADER · Inteligencia Artificial · Trabajo Final Integrador · </a:t>
            </a:r>
            <a:r>
              <a:rPr lang="en-US" sz="1300" dirty="0" smtClean="0">
                <a:solidFill>
                  <a:srgbClr val="B3C9E0"/>
                </a:solidFill>
                <a:latin typeface="Aptos" pitchFamily="34" charset="0"/>
                <a:ea typeface="Aptos" pitchFamily="34" charset="-122"/>
                <a:cs typeface="Aptos" pitchFamily="34" charset="-120"/>
              </a:rPr>
              <a:t>2026</a:t>
            </a:r>
          </a:p>
          <a:p>
            <a:pPr marL="0" indent="0">
              <a:buNone/>
            </a:pPr>
            <a:r>
              <a:rPr lang="es-ES" sz="1300" dirty="0" err="1" smtClean="0">
                <a:solidFill>
                  <a:srgbClr val="B3C9E0"/>
                </a:solidFill>
                <a:latin typeface="Aptos" pitchFamily="34" charset="0"/>
                <a:ea typeface="Aptos" pitchFamily="34" charset="-122"/>
              </a:rPr>
              <a:t>Ezpeleta</a:t>
            </a:r>
            <a:r>
              <a:rPr lang="es-ES" sz="1300" dirty="0" smtClean="0">
                <a:solidFill>
                  <a:srgbClr val="B3C9E0"/>
                </a:solidFill>
                <a:latin typeface="Aptos" pitchFamily="34" charset="0"/>
                <a:ea typeface="Aptos" pitchFamily="34" charset="-122"/>
              </a:rPr>
              <a:t> Gisela – </a:t>
            </a:r>
            <a:r>
              <a:rPr lang="es-ES" sz="1300" dirty="0" err="1" smtClean="0">
                <a:solidFill>
                  <a:srgbClr val="B3C9E0"/>
                </a:solidFill>
                <a:latin typeface="Aptos" pitchFamily="34" charset="0"/>
                <a:ea typeface="Aptos" pitchFamily="34" charset="-122"/>
              </a:rPr>
              <a:t>Tabacchi</a:t>
            </a:r>
            <a:r>
              <a:rPr lang="es-ES" sz="1300" dirty="0" smtClean="0">
                <a:solidFill>
                  <a:srgbClr val="B3C9E0"/>
                </a:solidFill>
                <a:latin typeface="Aptos" pitchFamily="34" charset="0"/>
                <a:ea typeface="Aptos" pitchFamily="34" charset="-122"/>
              </a:rPr>
              <a:t> Lucas – Borda Alexander – Barreto </a:t>
            </a:r>
            <a:r>
              <a:rPr lang="es-ES" sz="1300" dirty="0" err="1" smtClean="0">
                <a:solidFill>
                  <a:srgbClr val="B3C9E0"/>
                </a:solidFill>
                <a:latin typeface="Aptos" pitchFamily="34" charset="0"/>
                <a:ea typeface="Aptos" pitchFamily="34" charset="-122"/>
              </a:rPr>
              <a:t>Nicolas</a:t>
            </a:r>
            <a:endParaRPr lang="en-US" sz="1300" dirty="0"/>
          </a:p>
        </p:txBody>
      </p:sp>
      <p:pic>
        <p:nvPicPr>
          <p:cNvPr id="1026" name="Picture 2" descr="idtilab"/>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20077" b="81853" l="3898" r="15367">
                        <a14:foregroundMark x1="9370" y1="35521" x2="8471" y2="60618"/>
                        <a14:foregroundMark x1="10870" y1="35521" x2="10570" y2="67568"/>
                        <a14:foregroundMark x1="8846" y1="31274" x2="6372" y2="57915"/>
                        <a14:foregroundMark x1="12744" y1="67181" x2="12144" y2="39768"/>
                        <a14:foregroundMark x1="12594" y1="39382" x2="6747" y2="35521"/>
                        <a14:foregroundMark x1="11619" y1="67181" x2="6372" y2="48263"/>
                        <a14:foregroundMark x1="8246" y1="70656" x2="11469" y2="32046"/>
                        <a14:foregroundMark x1="10345" y1="72201" x2="6072" y2="50193"/>
                        <a14:foregroundMark x1="7121" y1="70270" x2="8846" y2="22780"/>
                        <a14:foregroundMark x1="6222" y1="37452" x2="12894" y2="64479"/>
                      </a14:backgroundRemoval>
                    </a14:imgEffect>
                  </a14:imgLayer>
                </a14:imgProps>
              </a:ext>
              <a:ext uri="{28A0092B-C50C-407E-A947-70E740481C1C}">
                <a14:useLocalDpi xmlns:a14="http://schemas.microsoft.com/office/drawing/2010/main" val="0"/>
              </a:ext>
            </a:extLst>
          </a:blip>
          <a:srcRect l="2524" t="14635" r="83124" b="10570"/>
          <a:stretch>
            <a:fillRect/>
          </a:stretch>
        </p:blipFill>
        <p:spPr bwMode="auto">
          <a:xfrm>
            <a:off x="1095538" y="70183"/>
            <a:ext cx="866775" cy="876300"/>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images"/>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0" b="100000" l="0" r="32656">
                        <a14:foregroundMark x1="7317" y1="45122" x2="8401" y2="13008"/>
                        <a14:foregroundMark x1="18022" y1="42276" x2="25339" y2="10569"/>
                      </a14:backgroundRemoval>
                    </a14:imgEffect>
                  </a14:imgLayer>
                </a14:imgProps>
              </a:ext>
              <a:ext uri="{28A0092B-C50C-407E-A947-70E740481C1C}">
                <a14:useLocalDpi xmlns:a14="http://schemas.microsoft.com/office/drawing/2010/main" val="0"/>
              </a:ext>
            </a:extLst>
          </a:blip>
          <a:srcRect r="66528"/>
          <a:stretch/>
        </p:blipFill>
        <p:spPr bwMode="auto">
          <a:xfrm>
            <a:off x="447219" y="162258"/>
            <a:ext cx="696617" cy="692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65715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3790</TotalTime>
  <Words>1188</Words>
  <Application>Microsoft Office PowerPoint</Application>
  <PresentationFormat>Panorámica</PresentationFormat>
  <Paragraphs>154</Paragraphs>
  <Slides>14</Slides>
  <Notes>8</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14</vt:i4>
      </vt:variant>
    </vt:vector>
  </HeadingPairs>
  <TitlesOfParts>
    <vt:vector size="19" baseType="lpstr">
      <vt:lpstr>Aptos</vt:lpstr>
      <vt:lpstr>Arial</vt:lpstr>
      <vt:lpstr>Calibri</vt:lpstr>
      <vt:lpstr>Calibri Light</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Carpenter-Grossberg | Perfiles fitness</dc:title>
  <dc:subject>Redes Carpenter-Grossberg y aplicación a perfiles fitness</dc:subject>
  <dc:creator>Equipo TFI Inteligencia Artificial - UADER</dc:creator>
  <cp:lastModifiedBy>iCentro</cp:lastModifiedBy>
  <cp:revision>34</cp:revision>
  <dcterms:created xsi:type="dcterms:W3CDTF">2026-10-14T21:59:43Z</dcterms:created>
  <dcterms:modified xsi:type="dcterms:W3CDTF">2026-10-17T13:13:01Z</dcterms:modified>
</cp:coreProperties>
</file>